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95" r:id="rId5"/>
    <p:sldId id="264" r:id="rId6"/>
    <p:sldId id="306" r:id="rId7"/>
    <p:sldId id="268" r:id="rId8"/>
    <p:sldId id="259" r:id="rId9"/>
    <p:sldId id="261" r:id="rId10"/>
    <p:sldId id="263" r:id="rId11"/>
    <p:sldId id="262" r:id="rId12"/>
    <p:sldId id="307" r:id="rId13"/>
    <p:sldId id="292" r:id="rId14"/>
  </p:sldIdLst>
  <p:sldSz cx="12192000" cy="6858000"/>
  <p:notesSz cx="6858000" cy="9144000"/>
  <p:defaultTextStyle>
    <a:defPPr>
      <a:defRPr lang="fr-PF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52"/>
    <p:restoredTop sz="96395"/>
  </p:normalViewPr>
  <p:slideViewPr>
    <p:cSldViewPr snapToGrid="0">
      <p:cViewPr>
        <p:scale>
          <a:sx n="117" d="100"/>
          <a:sy n="117" d="100"/>
        </p:scale>
        <p:origin x="1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PF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442E4-60CD-2545-8FFF-2514098A1A64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PF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PF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9F57C-9F37-D245-BB2D-72A5241B27B8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142892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PF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9F57C-9F37-D245-BB2D-72A5241B27B8}" type="slidenum">
              <a:rPr lang="fr-PF" smtClean="0"/>
              <a:t>1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1110203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PF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9F57C-9F37-D245-BB2D-72A5241B27B8}" type="slidenum">
              <a:rPr lang="fr-PF" smtClean="0"/>
              <a:t>3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1348051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D75784B-768C-5267-DF3D-7A3525FA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8297174-7E22-DEEE-7800-833F15391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254BADA-C2B8-79AC-8338-DBFDE1F8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162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Dans le cadre de la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valorisation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notre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patrimoine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linguistique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culturel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, Monsieur le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Ministre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l’éducation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et de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l’enseignement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supérieur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vous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avez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informer la tenue de la 2</a:t>
            </a:r>
            <a:r>
              <a:rPr lang="en-US" sz="1800" b="0" i="0" u="none" strike="noStrike" cap="none" baseline="30000" dirty="0">
                <a:latin typeface="Arial"/>
                <a:ea typeface="Arial"/>
                <a:cs typeface="Arial"/>
                <a:sym typeface="Arial"/>
              </a:rPr>
              <a:t>ème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édition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du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Heiva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Hīmene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Tumu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des écoles et des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établissements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autour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thématique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« ’a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fa’a’oto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tō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’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oe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Fenua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tō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’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oe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Moana » 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(qui se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déroulera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le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jeudi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17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avril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2025, de 9h00 à 11h00, au Grand Théâtre de la Maison de la Culture,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Te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Fare </a:t>
            </a:r>
            <a:r>
              <a:rPr lang="en-US" sz="1800" b="0" i="1" u="none" strike="noStrike" cap="none" dirty="0" err="1">
                <a:latin typeface="Arial"/>
                <a:ea typeface="Arial"/>
                <a:cs typeface="Arial"/>
                <a:sym typeface="Arial"/>
              </a:rPr>
              <a:t>Tauhiti</a:t>
            </a:r>
            <a:r>
              <a:rPr lang="en-US" sz="1800" b="0" i="1" u="none" strike="noStrike" cap="none" dirty="0">
                <a:latin typeface="Arial"/>
                <a:ea typeface="Arial"/>
                <a:cs typeface="Arial"/>
                <a:sym typeface="Arial"/>
              </a:rPr>
              <a:t> Nui.) 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Ceci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afin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favoriser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le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patrimoine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culturel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matériel et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immatériel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aussi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mettre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évidence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l’apprentissage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et la pratique des arts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traditionnels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tels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que les chants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traditionnels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polyphoniques</a:t>
            </a:r>
            <a:r>
              <a:rPr lang="en-US" sz="1800" b="0" i="0" u="none" strike="noStrike" cap="none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56F05-BD9E-E540-FFEE-AD6E577B9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768DC18-4F4E-8524-6DE5-D61DBEAB2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P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BCDEE8-52A6-6059-6A6A-3B407E6F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C15796-7765-378E-6D98-57CFCDB0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C6CAE5-FBA3-58B6-7D7B-4D594185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272857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7E9E6-6852-0E94-C02B-DAF5032C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505E94-C0DF-3761-9E6C-1AA51A3FC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4EDFC-80D6-8099-527E-24C61CE1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84BE13-D211-7350-26A2-C21D69C02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BD0A72-38A0-39FC-A495-6530F7F6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295599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8B038-48A7-CCDA-9B19-B8BF554B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03BFDF-0928-D5D0-EFF8-76579DF0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B7B0E9-93FE-3A49-CBAD-6968DD6C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D49BDF-181A-0F5A-1965-9DA8A4C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EA2B13-C85F-D730-A204-FE884ED0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256892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ECFAF-38F8-CB39-DC78-0FBF12B6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8BE89A-6C1F-AEE3-BD8F-1413DA45C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E1E3CE-F6B2-5E76-88FD-16AF64D2E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8429A6-7429-4514-BEDA-F9DB179E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34E078-0A46-211E-DFED-54154960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AD939B-9485-5CA7-7937-42CB4DA3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224642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7062B-4CCD-808B-9205-2318F86D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F0E041-97F6-5147-DD0B-7EEDD5C82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8611B2-304F-112D-AB76-5B33AAB18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381A556-E578-7811-1DF9-BF16A3527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00D878-A41B-D542-DE97-42EEC4132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2C3F99-B5C9-F2BE-DC38-D09FBA5A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E07339-C6CB-E138-FD3D-474A342C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1E06A8-A3C4-2E8B-B8F5-644B1C6D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132182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FB467E-5E43-812A-8CE5-954ADE83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D532B6D-7069-C627-C5A6-26E0A756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45CDA4-38D0-BFA8-4FBD-43708A8B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BC7DFC-7F7C-3DC1-511F-C51AE15F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86100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6A15EB-A422-0DB1-3E89-82BAC77D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5FFD09C-4A02-28D4-A6FE-B8662967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475F68-3C92-AF86-877C-279DE20A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198187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BD793-DCCF-CDCC-6D72-57A31E7E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76D210-8FD6-22A9-13D3-7811A2DE7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0E00D6-A5DF-F08D-7B75-C84FA41F6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FEBA40-042D-4790-9C17-9FA0718B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F22A51-23C1-C976-29FB-4627A9E2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999AFB-EB4A-BDA8-E4B8-F1FF5B3F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385268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1D64AE-AB64-4ADC-6085-739E8457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E236AA-A3CC-60CC-A7BE-2A3533049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PF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FEC076-CDC6-8AE6-7921-83030C34D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EEF1A2-CBB9-7970-8300-DF6EDB0E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494608-FF06-B8BF-A390-C7F03B0C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DDDD20-EDCF-D3B5-52EA-C3F2EF43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122505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D43D1-BD70-49E2-A3C4-700200CE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D47B3E-1B72-6982-D2AB-560101D59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EF76D0-FEB4-BC5C-9CBB-9DA256C4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38FC68-A486-DCE9-33E9-85F04090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60ADEC-A52A-6FE4-3D28-EB2883B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209840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E37075-CF2A-3F8E-E633-A5862D002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B914B4-CB2B-D49E-5EC7-7C4DA54CA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CDF003-BF7F-60B0-0C9A-FD7E9FF7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9C0B8F-A31A-E95C-AFE2-EE09F1CB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P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929EE3-CFAE-EFBE-150D-0B931AAC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302579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eur et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Auteur et date</a:t>
            </a:r>
          </a:p>
        </p:txBody>
      </p:sp>
      <p:sp>
        <p:nvSpPr>
          <p:cNvPr id="12" name="Titre de la présentation"/>
          <p:cNvSpPr txBox="1">
            <a:spLocks noGrp="1"/>
          </p:cNvSpPr>
          <p:nvPr>
            <p:ph type="title" hasCustomPrompt="1"/>
          </p:nvPr>
        </p:nvSpPr>
        <p:spPr>
          <a:xfrm>
            <a:off x="603248" y="1287495"/>
            <a:ext cx="10985502" cy="2324101"/>
          </a:xfrm>
          <a:prstGeom prst="rect">
            <a:avLst/>
          </a:prstGeom>
        </p:spPr>
        <p:txBody>
          <a:bodyPr anchor="b"/>
          <a:lstStyle>
            <a:lvl1pPr>
              <a:defRPr sz="5800" spc="-116"/>
            </a:lvl1pPr>
          </a:lstStyle>
          <a:p>
            <a:r>
              <a:t>Titre de la présentation</a:t>
            </a:r>
          </a:p>
        </p:txBody>
      </p:sp>
      <p:sp>
        <p:nvSpPr>
          <p:cNvPr id="13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just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effectLst>
                  <a:outerShdw blurRad="50800" dist="25400" dir="5400000" rotWithShape="0">
                    <a:srgbClr val="000000"/>
                  </a:outerShdw>
                </a:effectLst>
                <a:latin typeface="Chalkboard SE Regular"/>
                <a:ea typeface="Chalkboard SE Regular"/>
                <a:cs typeface="Chalkboard SE Regular"/>
                <a:sym typeface="Chalkboard SE Regular"/>
              </a:defRPr>
            </a:lvl1pPr>
            <a:lvl2pPr marL="0" indent="228600" algn="just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effectLst>
                  <a:outerShdw blurRad="50800" dist="25400" dir="5400000" rotWithShape="0">
                    <a:srgbClr val="000000"/>
                  </a:outerShdw>
                </a:effectLst>
                <a:latin typeface="Chalkboard SE Regular"/>
                <a:ea typeface="Chalkboard SE Regular"/>
                <a:cs typeface="Chalkboard SE Regular"/>
                <a:sym typeface="Chalkboard SE Regular"/>
              </a:defRPr>
            </a:lvl2pPr>
            <a:lvl3pPr marL="0" indent="457200" algn="just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effectLst>
                  <a:outerShdw blurRad="50800" dist="25400" dir="5400000" rotWithShape="0">
                    <a:srgbClr val="000000"/>
                  </a:outerShdw>
                </a:effectLst>
                <a:latin typeface="Chalkboard SE Regular"/>
                <a:ea typeface="Chalkboard SE Regular"/>
                <a:cs typeface="Chalkboard SE Regular"/>
                <a:sym typeface="Chalkboard SE Regular"/>
              </a:defRPr>
            </a:lvl3pPr>
            <a:lvl4pPr marL="0" indent="685800" algn="just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effectLst>
                  <a:outerShdw blurRad="50800" dist="25400" dir="5400000" rotWithShape="0">
                    <a:srgbClr val="000000"/>
                  </a:outerShdw>
                </a:effectLst>
                <a:latin typeface="Chalkboard SE Regular"/>
                <a:ea typeface="Chalkboard SE Regular"/>
                <a:cs typeface="Chalkboard SE Regular"/>
                <a:sym typeface="Chalkboard SE Regular"/>
              </a:defRPr>
            </a:lvl4pPr>
            <a:lvl5pPr marL="0" indent="914400" algn="just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effectLst>
                  <a:outerShdw blurRad="50800" dist="25400" dir="5400000" rotWithShape="0">
                    <a:srgbClr val="000000"/>
                  </a:outerShdw>
                </a:effectLst>
                <a:latin typeface="Chalkboard SE Regular"/>
                <a:ea typeface="Chalkboard SE Regular"/>
                <a:cs typeface="Chalkboard SE Regular"/>
                <a:sym typeface="Chalkboard SE Regular"/>
              </a:defRPr>
            </a:lvl5pPr>
          </a:lstStyle>
          <a:p>
            <a:r>
              <a:t>Sous-titre de la présentation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293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457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2"/>
          <p:cNvSpPr txBox="1">
            <a:spLocks noGrp="1"/>
          </p:cNvSpPr>
          <p:nvPr>
            <p:ph type="sldNum" idx="12"/>
          </p:nvPr>
        </p:nvSpPr>
        <p:spPr>
          <a:xfrm>
            <a:off x="11378134" y="6210175"/>
            <a:ext cx="245362" cy="22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1646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600670" y="5929931"/>
            <a:ext cx="10985502" cy="31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1800" b="1"/>
            </a:lvl1pPr>
            <a:lvl2pPr marL="457200" lvl="1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685800" lvl="2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914400" lvl="3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1143000" lvl="4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1371600" lvl="5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603248" y="1287495"/>
            <a:ext cx="10985502" cy="232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5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2"/>
          </p:nvPr>
        </p:nvSpPr>
        <p:spPr>
          <a:xfrm>
            <a:off x="600671" y="3611595"/>
            <a:ext cx="10985501" cy="95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1pPr>
            <a:lvl2pPr marL="457200" lvl="1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2pPr>
            <a:lvl3pPr marL="685800" lvl="2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3pPr>
            <a:lvl4pPr marL="914400" lvl="3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4pPr>
            <a:lvl5pPr marL="1143000" lvl="4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5pPr>
            <a:lvl6pPr marL="1371600" lvl="5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ldNum" idx="12"/>
          </p:nvPr>
        </p:nvSpPr>
        <p:spPr>
          <a:xfrm>
            <a:off x="6000750" y="6209709"/>
            <a:ext cx="184253" cy="5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6902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sldNum" idx="12"/>
          </p:nvPr>
        </p:nvSpPr>
        <p:spPr>
          <a:xfrm>
            <a:off x="11095176" y="6308101"/>
            <a:ext cx="25862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69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hoto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>
            <a:spLocks noGrp="1"/>
          </p:cNvSpPr>
          <p:nvPr>
            <p:ph type="pic" idx="2"/>
          </p:nvPr>
        </p:nvSpPr>
        <p:spPr>
          <a:xfrm>
            <a:off x="-577850" y="-647700"/>
            <a:ext cx="13373100" cy="80094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PF"/>
          </a:p>
        </p:txBody>
      </p:sp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603250" y="3562350"/>
            <a:ext cx="109855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5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603845" y="553069"/>
            <a:ext cx="10984311" cy="31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1800" b="1"/>
            </a:lvl1pPr>
            <a:lvl2pPr marL="457200" lvl="1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685800" lvl="2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914400" lvl="3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1143000" lvl="4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1371600" lvl="5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3"/>
          </p:nvPr>
        </p:nvSpPr>
        <p:spPr>
          <a:xfrm>
            <a:off x="603250" y="5804955"/>
            <a:ext cx="10985500" cy="55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1pPr>
            <a:lvl2pPr marL="457200" lvl="1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2pPr>
            <a:lvl3pPr marL="685800" lvl="2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3pPr>
            <a:lvl4pPr marL="914400" lvl="3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4pPr>
            <a:lvl5pPr marL="1143000" lvl="4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5pPr>
            <a:lvl6pPr marL="1371600" lvl="5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6000750" y="6209709"/>
            <a:ext cx="184253" cy="5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995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D5D4D5-97E9-C648-67A8-DDFF5E38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P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3C19CA-A91B-F9E6-660A-AC5E716FB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P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B44940-BF52-8A84-39F3-34F5619C7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3C02-4B8F-6D48-8C73-62F4440AB531}" type="datetimeFigureOut">
              <a:rPr lang="fr-PF" smtClean="0"/>
              <a:t>27/09/2026</a:t>
            </a:fld>
            <a:endParaRPr lang="fr-P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96B793-63A7-B735-0A5F-BAAC1A3A5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P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3089F5-B956-AF9C-4CC7-8637D32A8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804DA-DE2D-1749-8984-47C0045B1A15}" type="slidenum">
              <a:rPr lang="fr-PF" smtClean="0"/>
              <a:t>‹N°›</a:t>
            </a:fld>
            <a:endParaRPr lang="fr-PF"/>
          </a:p>
        </p:txBody>
      </p:sp>
    </p:spTree>
    <p:extLst>
      <p:ext uri="{BB962C8B-B14F-4D97-AF65-F5344CB8AC3E}">
        <p14:creationId xmlns:p14="http://schemas.microsoft.com/office/powerpoint/2010/main" val="331416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PF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Documents%20officiels/Lettre-de-rentree-2024-2025.pdf" TargetMode="External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hyperlink" Target="Lt-HIMENE-TUMU-VDGEE-.pdf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mailto:lcpp@education.p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hyperlink" Target="Cahier-des-charges-Himene-tumu-2024-2025.pdf" TargetMode="Externa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Grille-de-notation.xlsx" TargetMode="External"/><Relationship Id="rId3" Type="http://schemas.openxmlformats.org/officeDocument/2006/relationships/image" Target="../media/image9.png"/><Relationship Id="rId7" Type="http://schemas.openxmlformats.org/officeDocument/2006/relationships/hyperlink" Target="../../E&#769;COLES%20-%20CJA/CIR%201/OHITEITEI/Annexe1-2%20Himene%20tumu.doc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hyperlink" Target="Cahier-des-charges-Himene-tumu-2024-2025.pdf" TargetMode="Externa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5ABAD93-7D11-6E83-1E87-192EA2D1B518}"/>
              </a:ext>
            </a:extLst>
          </p:cNvPr>
          <p:cNvSpPr txBox="1"/>
          <p:nvPr/>
        </p:nvSpPr>
        <p:spPr>
          <a:xfrm>
            <a:off x="2255252" y="647873"/>
            <a:ext cx="9632995" cy="138499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fr-FR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« </a:t>
            </a:r>
            <a:r>
              <a:rPr lang="fr-FR" sz="42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Heiva</a:t>
            </a:r>
            <a:r>
              <a:rPr lang="fr-FR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Hīmene</a:t>
            </a: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fr-FR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</a:t>
            </a:r>
            <a:r>
              <a:rPr lang="en-US" sz="42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umu</a:t>
            </a:r>
            <a:r>
              <a:rPr lang="fr-FR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 2027 </a:t>
            </a:r>
          </a:p>
          <a:p>
            <a:pPr algn="ctr"/>
            <a:r>
              <a:rPr lang="fr-FR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4ème édition »</a:t>
            </a:r>
            <a:endParaRPr lang="en-US" sz="4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pic>
        <p:nvPicPr>
          <p:cNvPr id="10" name="Logo_LCP_v2.0 14aout2024.png" descr="Logo_LCP_v2.0 14aout2024.png">
            <a:extLst>
              <a:ext uri="{FF2B5EF4-FFF2-40B4-BE49-F238E27FC236}">
                <a16:creationId xmlns:a16="http://schemas.microsoft.com/office/drawing/2014/main" id="{E22E8435-2E26-BD6A-BB81-81FEB0479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01" t="21290" r="10970" b="29796"/>
          <a:stretch>
            <a:fillRect/>
          </a:stretch>
        </p:blipFill>
        <p:spPr>
          <a:xfrm>
            <a:off x="9060206" y="5884239"/>
            <a:ext cx="3110562" cy="984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G_4428.png" descr="IMG_4428.png">
            <a:extLst>
              <a:ext uri="{FF2B5EF4-FFF2-40B4-BE49-F238E27FC236}">
                <a16:creationId xmlns:a16="http://schemas.microsoft.com/office/drawing/2014/main" id="{A9F47A19-0144-04E2-ABAA-D558DB85329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t="22838" b="61734"/>
          <a:stretch>
            <a:fillRect/>
          </a:stretch>
        </p:blipFill>
        <p:spPr>
          <a:xfrm>
            <a:off x="0" y="1"/>
            <a:ext cx="12192000" cy="488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Google Shape;80;p1" descr="Google Shape;76;p1">
            <a:extLst>
              <a:ext uri="{FF2B5EF4-FFF2-40B4-BE49-F238E27FC236}">
                <a16:creationId xmlns:a16="http://schemas.microsoft.com/office/drawing/2014/main" id="{EED8B3BC-E393-51F2-606C-D87AA43EFC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7" y="6210127"/>
            <a:ext cx="3451258" cy="64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90;p1">
            <a:extLst>
              <a:ext uri="{FF2B5EF4-FFF2-40B4-BE49-F238E27FC236}">
                <a16:creationId xmlns:a16="http://schemas.microsoft.com/office/drawing/2014/main" id="{CA180822-5D25-4F42-1D43-AEEB4AD7E054}"/>
              </a:ext>
            </a:extLst>
          </p:cNvPr>
          <p:cNvSpPr txBox="1"/>
          <p:nvPr/>
        </p:nvSpPr>
        <p:spPr>
          <a:xfrm>
            <a:off x="4923057" y="2211951"/>
            <a:ext cx="5935706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« ’</a:t>
            </a:r>
            <a:r>
              <a:rPr lang="fr-FR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fa’a’oto</a:t>
            </a:r>
            <a:r>
              <a:rPr lang="en-US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ana’e </a:t>
            </a:r>
            <a:r>
              <a:rPr lang="en-US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i t</a:t>
            </a:r>
            <a:r>
              <a:rPr lang="fr-FR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fr-FR" sz="4000" b="1" i="0" u="none" strike="noStrike" cap="none" dirty="0" err="1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mau</a:t>
            </a:r>
            <a:r>
              <a:rPr lang="fr-FR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000" b="1" i="0" u="none" strike="noStrike" cap="none" dirty="0" err="1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Tāpa’o</a:t>
            </a:r>
            <a:r>
              <a:rPr lang="fr-FR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000" b="1" i="0" u="none" strike="noStrike" cap="none" dirty="0" err="1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Tumu</a:t>
            </a:r>
            <a:r>
              <a:rPr lang="en-US" sz="4000" b="1" i="0" u="none" strike="noStrike" cap="none" dirty="0">
                <a:solidFill>
                  <a:srgbClr val="00206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 »</a:t>
            </a:r>
            <a:endParaRPr lang="en-US" sz="4000" b="1" i="0" u="none" strike="noStrike" cap="none" dirty="0">
              <a:solidFill>
                <a:srgbClr val="00206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23DD5F-F848-1BA1-C8A8-DA06741EB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" y="2938737"/>
            <a:ext cx="4796912" cy="284681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A895F8D-41D1-17BB-74F2-C56E223635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3" y="488380"/>
            <a:ext cx="2253220" cy="2339661"/>
          </a:xfrm>
          <a:prstGeom prst="rect">
            <a:avLst/>
          </a:prstGeom>
        </p:spPr>
      </p:pic>
      <p:sp>
        <p:nvSpPr>
          <p:cNvPr id="3" name="Google Shape;90;p1">
            <a:extLst>
              <a:ext uri="{FF2B5EF4-FFF2-40B4-BE49-F238E27FC236}">
                <a16:creationId xmlns:a16="http://schemas.microsoft.com/office/drawing/2014/main" id="{B28412FA-D05C-2658-D287-10904A7AF560}"/>
              </a:ext>
            </a:extLst>
          </p:cNvPr>
          <p:cNvSpPr txBox="1"/>
          <p:nvPr/>
        </p:nvSpPr>
        <p:spPr>
          <a:xfrm>
            <a:off x="4831815" y="3690609"/>
            <a:ext cx="6820762" cy="77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libri"/>
              <a:buNone/>
            </a:pPr>
            <a:r>
              <a:rPr lang="en-US" sz="2200" b="1" i="1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« 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 Tārena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mā’ohi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(mārama), te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mau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manu nō te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tauta’i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tōpa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te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auhopu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te ’ūa’ara’a tiare ’e te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vai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b="1" i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atu</a:t>
            </a:r>
            <a:r>
              <a:rPr lang="fr-FR" sz="2200" b="1" i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ra…</a:t>
            </a:r>
            <a:r>
              <a:rPr lang="en-US" sz="2200" b="1" i="1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n-US" sz="2200" b="1" i="1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33C24CC-BE7C-EB26-47AF-EEEF9A5B2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526" y="4882145"/>
            <a:ext cx="1341463" cy="99984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5CE6F5C-C374-5564-3852-5CD1F9A80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6000" y="4925716"/>
            <a:ext cx="1445957" cy="95627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D51B1F6-CDD4-00A5-67E4-1954CC66D0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4930" y="4900435"/>
            <a:ext cx="1346636" cy="99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3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211776" y="2929962"/>
            <a:ext cx="10668000" cy="1938992"/>
          </a:xfrm>
          <a:prstGeom prst="rect">
            <a:avLst/>
          </a:prstGeom>
          <a:noFill/>
          <a:ln w="139700" cap="flat" cmpd="sng">
            <a:solidFill>
              <a:srgbClr val="F8BA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Helvetica Neue"/>
              <a:buNone/>
            </a:pPr>
            <a:r>
              <a:rPr lang="fr-FR" sz="2200" b="1" u="sng" noProof="1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CADRE </a:t>
            </a:r>
            <a:r>
              <a:rPr lang="fr-FR" sz="2200" b="0" i="0" u="none" strike="noStrike" cap="none" noProof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: </a:t>
            </a:r>
            <a:endParaRPr lang="fr-FR" sz="2200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buSzPts val="2000"/>
              <a:buFont typeface="Avenir"/>
              <a:buChar char="▪"/>
            </a:pPr>
            <a:r>
              <a:rPr lang="fr-FR" sz="2200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3"/>
              </a:rPr>
              <a:t>Lettre de rentrée de M. le Ministre de l’Éducation et de l’Enseignement Supérieur et de la Culture</a:t>
            </a:r>
            <a:r>
              <a:rPr lang="fr-FR" sz="22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3"/>
              </a:rPr>
              <a:t>.</a:t>
            </a:r>
            <a:endParaRPr lang="fr-FR" sz="22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Avenir"/>
              <a:cs typeface="Calibri" panose="020F0502020204030204" pitchFamily="34" charset="0"/>
              <a:sym typeface="Avenir"/>
            </a:endParaRPr>
          </a:p>
          <a:p>
            <a:pPr marL="142875" indent="-142875">
              <a:buSzPts val="2000"/>
              <a:buFont typeface="Avenir"/>
              <a:buChar char="▪"/>
            </a:pPr>
            <a:r>
              <a:rPr lang="fr-FR" sz="2200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Lettre du Ministre pour le </a:t>
            </a:r>
            <a:r>
              <a:rPr lang="fr-FR" sz="2200" dirty="0" err="1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Heiva</a:t>
            </a:r>
            <a:r>
              <a:rPr lang="fr-FR" sz="2200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 </a:t>
            </a:r>
            <a:r>
              <a:rPr lang="fr-FR" sz="2200" dirty="0" err="1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Hīmene</a:t>
            </a:r>
            <a:r>
              <a:rPr lang="fr-FR" sz="2200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 </a:t>
            </a:r>
            <a:r>
              <a:rPr lang="fr-FR" sz="2200" dirty="0" err="1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Tumu</a:t>
            </a:r>
            <a:r>
              <a:rPr lang="fr-FR" sz="2200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  <a:hlinkClick r:id="rId4"/>
              </a:rPr>
              <a:t>.</a:t>
            </a:r>
            <a:endParaRPr lang="fr-FR" sz="2200" dirty="0">
              <a:latin typeface="Calibri" panose="020F0502020204030204" pitchFamily="34" charset="0"/>
              <a:ea typeface="Avenir"/>
              <a:cs typeface="Calibri" panose="020F0502020204030204" pitchFamily="34" charset="0"/>
              <a:sym typeface="Avenir"/>
            </a:endParaRPr>
          </a:p>
          <a:p>
            <a:pPr marL="142875" indent="-142875">
              <a:buSzPts val="2000"/>
              <a:buFont typeface="Avenir"/>
              <a:buChar char="▪"/>
            </a:pPr>
            <a:r>
              <a:rPr lang="fr-FR" sz="22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Calendrier des temps fort 2026-2027</a:t>
            </a:r>
          </a:p>
          <a:p>
            <a:pPr marL="142875" indent="-142875">
              <a:buSzPts val="2000"/>
              <a:buFont typeface="Avenir"/>
              <a:buChar char="▪"/>
            </a:pPr>
            <a:endParaRPr lang="fr-FR" sz="22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Char char="▪"/>
            </a:pPr>
            <a:endParaRPr lang="fr-FR" sz="22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211776" y="735553"/>
            <a:ext cx="106680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300" b="0" i="1" u="none" strike="noStrike" cap="none" noProof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« Interprétés lors de grandes manifestations, les chants polyphoniques marquent la fierté de notre peuple fredonnant ainsi les légendes polynésiennes, l’histoire des familles royales, les hauts faits de guerres,…</a:t>
            </a:r>
            <a:endParaRPr lang="fr-FR" sz="2300" i="1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300" b="0" i="1" u="none" strike="noStrike" cap="none" noProof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Elles permettent de mettre en exergue des toponymes, la beauté et la générosité de notre environnement. »</a:t>
            </a:r>
            <a:endParaRPr lang="fr-FR" sz="2300" i="1" noProof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" name="Google Shape;102;p2" descr="IMG_4428.png"/>
          <p:cNvPicPr preferRelativeResize="0"/>
          <p:nvPr/>
        </p:nvPicPr>
        <p:blipFill rotWithShape="1">
          <a:blip r:embed="rId5">
            <a:alphaModFix/>
          </a:blip>
          <a:srcRect l="6714" t="45057" r="70246" b="29887"/>
          <a:stretch/>
        </p:blipFill>
        <p:spPr>
          <a:xfrm>
            <a:off x="11113243" y="5524206"/>
            <a:ext cx="866982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3" name="Google Shape;103;p2" descr="IMG_4809.jpeg"/>
          <p:cNvPicPr preferRelativeResize="0"/>
          <p:nvPr/>
        </p:nvPicPr>
        <p:blipFill rotWithShape="1">
          <a:blip r:embed="rId6">
            <a:alphaModFix/>
          </a:blip>
          <a:srcRect l="3207" t="6200" r="5476" b="3045"/>
          <a:stretch/>
        </p:blipFill>
        <p:spPr>
          <a:xfrm>
            <a:off x="11113243" y="3724854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04" name="Google Shape;104;p2" descr="IMG_4810.jpeg"/>
          <p:cNvPicPr preferRelativeResize="0"/>
          <p:nvPr/>
        </p:nvPicPr>
        <p:blipFill rotWithShape="1">
          <a:blip r:embed="rId7">
            <a:alphaModFix/>
          </a:blip>
          <a:srcRect l="28735" t="2721" r="25640" b="38279"/>
          <a:stretch/>
        </p:blipFill>
        <p:spPr>
          <a:xfrm>
            <a:off x="11070434" y="1477588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2" name="Google Shape;169;p8" descr="IMG_4428.png">
            <a:extLst>
              <a:ext uri="{FF2B5EF4-FFF2-40B4-BE49-F238E27FC236}">
                <a16:creationId xmlns:a16="http://schemas.microsoft.com/office/drawing/2014/main" id="{5A5629F3-D07A-0D1A-D5A8-8296BD6DF5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838" b="61734"/>
          <a:stretch/>
        </p:blipFill>
        <p:spPr>
          <a:xfrm>
            <a:off x="-17363" y="-4810"/>
            <a:ext cx="12352725" cy="6944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9;p2">
            <a:extLst>
              <a:ext uri="{FF2B5EF4-FFF2-40B4-BE49-F238E27FC236}">
                <a16:creationId xmlns:a16="http://schemas.microsoft.com/office/drawing/2014/main" id="{F8A51AD5-8040-8578-85D2-9EB25FD97B28}"/>
              </a:ext>
            </a:extLst>
          </p:cNvPr>
          <p:cNvSpPr txBox="1"/>
          <p:nvPr/>
        </p:nvSpPr>
        <p:spPr>
          <a:xfrm>
            <a:off x="211776" y="4973920"/>
            <a:ext cx="10668000" cy="1441656"/>
          </a:xfrm>
          <a:prstGeom prst="rect">
            <a:avLst/>
          </a:prstGeom>
          <a:noFill/>
          <a:ln w="139700" cap="flat" cmpd="sng">
            <a:solidFill>
              <a:srgbClr val="F8BA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Helvetica Neue"/>
              <a:buNone/>
            </a:pPr>
            <a:r>
              <a:rPr lang="fr-FR" sz="2150" b="1" i="0" u="sng" strike="noStrike" cap="none" noProof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Objectifs</a:t>
            </a:r>
            <a:r>
              <a:rPr lang="fr-FR" sz="2150" b="0" i="0" u="none" strike="noStrike" cap="none" noProof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: </a:t>
            </a:r>
            <a:endParaRPr lang="fr-FR" sz="2150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Char char="▪"/>
            </a:pPr>
            <a:r>
              <a:rPr lang="fr-FR" sz="2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Valoriser et transmettre le patrimoine linguistique</a:t>
            </a:r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, </a:t>
            </a:r>
            <a:r>
              <a:rPr lang="fr-FR" sz="2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culturel et historique de notre territoire.</a:t>
            </a:r>
            <a:endParaRPr lang="fr-FR" sz="2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Char char="▪"/>
            </a:pPr>
            <a:r>
              <a:rPr lang="fr-FR" sz="2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Favoriser le patrimoine culturel matériel et immatériel.</a:t>
            </a:r>
            <a:endParaRPr lang="fr-FR" sz="2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venir"/>
              <a:buChar char="▪"/>
            </a:pPr>
            <a:r>
              <a:rPr lang="fr-FR" sz="2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Pratiquer des arts ancestraux et traditionnels tels que les chants traditionnels polyphoniques.</a:t>
            </a:r>
            <a:endParaRPr lang="fr-FR" sz="20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IMG_4428.png" descr="IMG_4428.png"/>
          <p:cNvPicPr>
            <a:picLocks noChangeAspect="1"/>
          </p:cNvPicPr>
          <p:nvPr/>
        </p:nvPicPr>
        <p:blipFill>
          <a:blip r:embed="rId3">
            <a:alphaModFix amt="70000"/>
          </a:blip>
          <a:srcRect t="22838" b="61734"/>
          <a:stretch>
            <a:fillRect/>
          </a:stretch>
        </p:blipFill>
        <p:spPr>
          <a:xfrm>
            <a:off x="0" y="0"/>
            <a:ext cx="12192000" cy="99163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Quelle est la langue maternelle des Polynésiens ?">
            <a:extLst>
              <a:ext uri="{FF2B5EF4-FFF2-40B4-BE49-F238E27FC236}">
                <a16:creationId xmlns:a16="http://schemas.microsoft.com/office/drawing/2014/main" id="{41BF8855-2B9C-F88D-6D0A-4DCFA9A9E4D1}"/>
              </a:ext>
            </a:extLst>
          </p:cNvPr>
          <p:cNvSpPr txBox="1"/>
          <p:nvPr/>
        </p:nvSpPr>
        <p:spPr>
          <a:xfrm>
            <a:off x="3612852" y="1146955"/>
            <a:ext cx="4058536" cy="789960"/>
          </a:xfrm>
          <a:prstGeom prst="rect">
            <a:avLst/>
          </a:prstGeom>
          <a:noFill/>
          <a:ln w="76200">
            <a:solidFill>
              <a:srgbClr val="FFC000"/>
            </a:solidFill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numCol="1" anchor="ctr">
            <a:spAutoFit/>
          </a:bodyPr>
          <a:lstStyle>
            <a:lvl1pPr>
              <a:defRPr sz="5700" b="1">
                <a:solidFill>
                  <a:srgbClr val="016E8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lvl1pPr>
          </a:lstStyle>
          <a:p>
            <a:pPr algn="ctr"/>
            <a:r>
              <a:rPr lang="fr-FR" sz="4800" dirty="0"/>
              <a:t>PLAN</a:t>
            </a:r>
            <a:endParaRPr sz="4800" dirty="0"/>
          </a:p>
        </p:txBody>
      </p:sp>
      <p:sp>
        <p:nvSpPr>
          <p:cNvPr id="6" name="Tir à l’arc">
            <a:extLst>
              <a:ext uri="{FF2B5EF4-FFF2-40B4-BE49-F238E27FC236}">
                <a16:creationId xmlns:a16="http://schemas.microsoft.com/office/drawing/2014/main" id="{DD7BD8F7-2AAB-4664-D41E-1F09A263D18F}"/>
              </a:ext>
            </a:extLst>
          </p:cNvPr>
          <p:cNvSpPr/>
          <p:nvPr/>
        </p:nvSpPr>
        <p:spPr>
          <a:xfrm>
            <a:off x="2657731" y="1123723"/>
            <a:ext cx="805086" cy="8102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1252"/>
                </a:moveTo>
                <a:cubicBezTo>
                  <a:pt x="16065" y="1252"/>
                  <a:pt x="20348" y="5536"/>
                  <a:pt x="20348" y="10800"/>
                </a:cubicBezTo>
                <a:cubicBezTo>
                  <a:pt x="20348" y="16065"/>
                  <a:pt x="16064" y="20348"/>
                  <a:pt x="10800" y="20348"/>
                </a:cubicBezTo>
                <a:cubicBezTo>
                  <a:pt x="5536" y="20348"/>
                  <a:pt x="1252" y="16065"/>
                  <a:pt x="1252" y="10800"/>
                </a:cubicBezTo>
                <a:cubicBezTo>
                  <a:pt x="1252" y="5536"/>
                  <a:pt x="5535" y="1252"/>
                  <a:pt x="10800" y="1252"/>
                </a:cubicBezTo>
                <a:close/>
                <a:moveTo>
                  <a:pt x="10800" y="1520"/>
                </a:moveTo>
                <a:cubicBezTo>
                  <a:pt x="5684" y="1520"/>
                  <a:pt x="1520" y="5684"/>
                  <a:pt x="1520" y="10800"/>
                </a:cubicBezTo>
                <a:cubicBezTo>
                  <a:pt x="1520" y="15916"/>
                  <a:pt x="5684" y="20080"/>
                  <a:pt x="10800" y="20080"/>
                </a:cubicBezTo>
                <a:cubicBezTo>
                  <a:pt x="15916" y="20080"/>
                  <a:pt x="20078" y="15916"/>
                  <a:pt x="20078" y="10800"/>
                </a:cubicBezTo>
                <a:cubicBezTo>
                  <a:pt x="20078" y="5684"/>
                  <a:pt x="15916" y="1520"/>
                  <a:pt x="10800" y="1520"/>
                </a:cubicBezTo>
                <a:close/>
                <a:moveTo>
                  <a:pt x="10800" y="2810"/>
                </a:moveTo>
                <a:cubicBezTo>
                  <a:pt x="15213" y="2810"/>
                  <a:pt x="18789" y="6387"/>
                  <a:pt x="18789" y="10800"/>
                </a:cubicBezTo>
                <a:cubicBezTo>
                  <a:pt x="18789" y="15213"/>
                  <a:pt x="15213" y="18790"/>
                  <a:pt x="10800" y="18790"/>
                </a:cubicBezTo>
                <a:cubicBezTo>
                  <a:pt x="6387" y="18790"/>
                  <a:pt x="2810" y="15213"/>
                  <a:pt x="2810" y="10800"/>
                </a:cubicBezTo>
                <a:cubicBezTo>
                  <a:pt x="2810" y="6387"/>
                  <a:pt x="6387" y="2810"/>
                  <a:pt x="10800" y="2810"/>
                </a:cubicBezTo>
                <a:close/>
                <a:moveTo>
                  <a:pt x="10800" y="4855"/>
                </a:moveTo>
                <a:cubicBezTo>
                  <a:pt x="7517" y="4855"/>
                  <a:pt x="4855" y="7517"/>
                  <a:pt x="4855" y="10800"/>
                </a:cubicBezTo>
                <a:cubicBezTo>
                  <a:pt x="4855" y="14083"/>
                  <a:pt x="7517" y="16745"/>
                  <a:pt x="10800" y="16745"/>
                </a:cubicBezTo>
                <a:cubicBezTo>
                  <a:pt x="14083" y="16745"/>
                  <a:pt x="16743" y="14083"/>
                  <a:pt x="16743" y="10800"/>
                </a:cubicBezTo>
                <a:cubicBezTo>
                  <a:pt x="16743" y="7517"/>
                  <a:pt x="14083" y="4855"/>
                  <a:pt x="10800" y="4855"/>
                </a:cubicBezTo>
                <a:close/>
                <a:moveTo>
                  <a:pt x="10800" y="6664"/>
                </a:moveTo>
                <a:cubicBezTo>
                  <a:pt x="13085" y="6664"/>
                  <a:pt x="14936" y="8515"/>
                  <a:pt x="14936" y="10800"/>
                </a:cubicBezTo>
                <a:cubicBezTo>
                  <a:pt x="14936" y="13085"/>
                  <a:pt x="13085" y="14936"/>
                  <a:pt x="10800" y="14936"/>
                </a:cubicBezTo>
                <a:cubicBezTo>
                  <a:pt x="8515" y="14936"/>
                  <a:pt x="6662" y="13085"/>
                  <a:pt x="6662" y="10800"/>
                </a:cubicBezTo>
                <a:cubicBezTo>
                  <a:pt x="6662" y="8515"/>
                  <a:pt x="8515" y="6664"/>
                  <a:pt x="10800" y="6664"/>
                </a:cubicBezTo>
                <a:close/>
                <a:moveTo>
                  <a:pt x="10800" y="8755"/>
                </a:moveTo>
                <a:cubicBezTo>
                  <a:pt x="10276" y="8755"/>
                  <a:pt x="9752" y="8954"/>
                  <a:pt x="9352" y="9354"/>
                </a:cubicBezTo>
                <a:cubicBezTo>
                  <a:pt x="8553" y="10153"/>
                  <a:pt x="8553" y="11447"/>
                  <a:pt x="9352" y="12246"/>
                </a:cubicBezTo>
                <a:cubicBezTo>
                  <a:pt x="10151" y="13045"/>
                  <a:pt x="11447" y="13045"/>
                  <a:pt x="12246" y="12246"/>
                </a:cubicBezTo>
                <a:cubicBezTo>
                  <a:pt x="13045" y="11447"/>
                  <a:pt x="13045" y="10153"/>
                  <a:pt x="12246" y="9354"/>
                </a:cubicBezTo>
                <a:cubicBezTo>
                  <a:pt x="11847" y="8954"/>
                  <a:pt x="11324" y="8755"/>
                  <a:pt x="10800" y="8755"/>
                </a:cubicBezTo>
                <a:close/>
              </a:path>
            </a:pathLst>
          </a:custGeom>
          <a:solidFill>
            <a:srgbClr val="FF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669D34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" name="Image 1" descr="Une image contenant Visage humain, personne, fleur, sourire&#10;&#10;Le contenu généré par l’IA peut être incorrect.">
            <a:extLst>
              <a:ext uri="{FF2B5EF4-FFF2-40B4-BE49-F238E27FC236}">
                <a16:creationId xmlns:a16="http://schemas.microsoft.com/office/drawing/2014/main" id="{90F4DDAC-B72E-72AB-D4BB-181A9B36DC3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3285" y="912326"/>
            <a:ext cx="1386600" cy="19635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68992DB-66E9-3849-22BF-5880191AD277}"/>
              </a:ext>
            </a:extLst>
          </p:cNvPr>
          <p:cNvSpPr/>
          <p:nvPr/>
        </p:nvSpPr>
        <p:spPr>
          <a:xfrm>
            <a:off x="1322371" y="2092239"/>
            <a:ext cx="8077390" cy="480765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PF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1. </a:t>
            </a:r>
            <a:r>
              <a:rPr lang="fr-FR" sz="3000" b="1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Point de</a:t>
            </a:r>
            <a:r>
              <a:rPr lang="fr-FR" sz="3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 situation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2. Bilan HHT 2026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2. </a:t>
            </a:r>
            <a:r>
              <a:rPr lang="fr-FR" sz="3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Informations générales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3. Inscription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5. Public concerné </a:t>
            </a:r>
            <a:r>
              <a:rPr lang="fr-FR" sz="3000" b="1" i="1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(avec Marquises et Taha’a)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6. Modalités de participation</a:t>
            </a:r>
            <a:endParaRPr lang="fr-FR" sz="3000" b="1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Avenir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Avenir"/>
              </a:rPr>
              <a:t>7. Calendrier prévisionnel</a:t>
            </a:r>
          </a:p>
          <a:p>
            <a:pPr>
              <a:buSzPts val="2000"/>
            </a:pPr>
            <a:r>
              <a:rPr lang="fr-FR" sz="3000" b="1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8. </a:t>
            </a:r>
            <a:r>
              <a:rPr lang="fr-FR" sz="30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Avenir"/>
              </a:rPr>
              <a:t>Partenariat et organismes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fr-FR" sz="30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Avenir"/>
              </a:rPr>
              <a:t>9. Questions diverses</a:t>
            </a:r>
          </a:p>
        </p:txBody>
      </p:sp>
      <p:pic>
        <p:nvPicPr>
          <p:cNvPr id="14" name="Google Shape;122;p4" descr="IMG_4428.png">
            <a:extLst>
              <a:ext uri="{FF2B5EF4-FFF2-40B4-BE49-F238E27FC236}">
                <a16:creationId xmlns:a16="http://schemas.microsoft.com/office/drawing/2014/main" id="{6AD874D2-DCA7-3094-2749-5F169B8B3D0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714" t="45057" r="70246" b="29887"/>
          <a:stretch/>
        </p:blipFill>
        <p:spPr>
          <a:xfrm>
            <a:off x="294033" y="5347411"/>
            <a:ext cx="909789" cy="886235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" name="Google Shape;123;p4" descr="IMG_4809.jpeg">
            <a:extLst>
              <a:ext uri="{FF2B5EF4-FFF2-40B4-BE49-F238E27FC236}">
                <a16:creationId xmlns:a16="http://schemas.microsoft.com/office/drawing/2014/main" id="{940963EE-3CB8-7415-4F43-DADC54CF74B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207" t="6200" r="5476" b="3045"/>
          <a:stretch/>
        </p:blipFill>
        <p:spPr>
          <a:xfrm>
            <a:off x="267520" y="3184148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8" name="Google Shape;124;p4" descr="IMG_4810.jpeg">
            <a:extLst>
              <a:ext uri="{FF2B5EF4-FFF2-40B4-BE49-F238E27FC236}">
                <a16:creationId xmlns:a16="http://schemas.microsoft.com/office/drawing/2014/main" id="{A22C8FC1-B077-3C1A-AF01-576084ECECF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8735" t="2721" r="25640" b="38279"/>
          <a:stretch/>
        </p:blipFill>
        <p:spPr>
          <a:xfrm>
            <a:off x="318456" y="1444430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8905B91-A83E-2CFD-E878-64FB264A44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9082" y="4833968"/>
            <a:ext cx="2569529" cy="1963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F836A50-B533-22AB-94AB-403AC162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 descr="IMG_4428.png">
            <a:extLst>
              <a:ext uri="{FF2B5EF4-FFF2-40B4-BE49-F238E27FC236}">
                <a16:creationId xmlns:a16="http://schemas.microsoft.com/office/drawing/2014/main" id="{FB94E811-3E0A-C34E-5049-3FE059727A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714" t="45057" r="70246" b="29887"/>
          <a:stretch/>
        </p:blipFill>
        <p:spPr>
          <a:xfrm>
            <a:off x="11113243" y="5524206"/>
            <a:ext cx="866982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3" name="Google Shape;103;p2" descr="IMG_4809.jpeg">
            <a:extLst>
              <a:ext uri="{FF2B5EF4-FFF2-40B4-BE49-F238E27FC236}">
                <a16:creationId xmlns:a16="http://schemas.microsoft.com/office/drawing/2014/main" id="{A0A8A6D4-AF64-C51E-7590-74FF4936FF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113243" y="3724854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04" name="Google Shape;104;p2" descr="IMG_4810.jpeg">
            <a:extLst>
              <a:ext uri="{FF2B5EF4-FFF2-40B4-BE49-F238E27FC236}">
                <a16:creationId xmlns:a16="http://schemas.microsoft.com/office/drawing/2014/main" id="{5A9E157F-0305-7777-CF46-2E8AD7F6AED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070434" y="1477588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2" name="Google Shape;169;p8" descr="IMG_4428.png">
            <a:extLst>
              <a:ext uri="{FF2B5EF4-FFF2-40B4-BE49-F238E27FC236}">
                <a16:creationId xmlns:a16="http://schemas.microsoft.com/office/drawing/2014/main" id="{F0DCA72B-0FCF-2B01-C5FE-69AE47B922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10"/>
            <a:ext cx="12209363" cy="7432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9;p2">
            <a:extLst>
              <a:ext uri="{FF2B5EF4-FFF2-40B4-BE49-F238E27FC236}">
                <a16:creationId xmlns:a16="http://schemas.microsoft.com/office/drawing/2014/main" id="{78726220-5DCD-8FD3-03E3-346AEB71ACB8}"/>
              </a:ext>
            </a:extLst>
          </p:cNvPr>
          <p:cNvSpPr txBox="1"/>
          <p:nvPr/>
        </p:nvSpPr>
        <p:spPr>
          <a:xfrm>
            <a:off x="234342" y="899821"/>
            <a:ext cx="10668000" cy="480238"/>
          </a:xfrm>
          <a:prstGeom prst="rect">
            <a:avLst/>
          </a:prstGeom>
          <a:noFill/>
          <a:ln w="139700" cap="flat" cmpd="sng">
            <a:solidFill>
              <a:srgbClr val="F8BA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000"/>
            </a:pPr>
            <a:r>
              <a:rPr lang="fr-FR" sz="3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1. </a:t>
            </a:r>
            <a:r>
              <a:rPr lang="fr-FR" sz="3000" b="1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Point de</a:t>
            </a:r>
            <a:r>
              <a:rPr lang="fr-FR" sz="30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rPr>
              <a:t> situation.</a:t>
            </a:r>
          </a:p>
        </p:txBody>
      </p:sp>
      <p:sp>
        <p:nvSpPr>
          <p:cNvPr id="6" name="Google Shape;99;p2">
            <a:extLst>
              <a:ext uri="{FF2B5EF4-FFF2-40B4-BE49-F238E27FC236}">
                <a16:creationId xmlns:a16="http://schemas.microsoft.com/office/drawing/2014/main" id="{07CE451F-23C0-86DC-211B-BBBE96C375DE}"/>
              </a:ext>
            </a:extLst>
          </p:cNvPr>
          <p:cNvSpPr txBox="1"/>
          <p:nvPr/>
        </p:nvSpPr>
        <p:spPr>
          <a:xfrm>
            <a:off x="234342" y="1593831"/>
            <a:ext cx="10668000" cy="5264169"/>
          </a:xfrm>
          <a:prstGeom prst="rect">
            <a:avLst/>
          </a:prstGeom>
          <a:noFill/>
          <a:ln w="139700" cap="flat" cmpd="sng">
            <a:solidFill>
              <a:srgbClr val="F8BA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Réunion prévue avec madame la ministre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Samantha TIRAO-BONNET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épse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SAMIN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afin d’obtenir des informations complémentaires pour l’organisation de la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4</a:t>
            </a:r>
            <a:r>
              <a:rPr lang="fr-FR" sz="24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ème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édition du « 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Heiva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Hīmene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Tumu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2027 ». </a:t>
            </a:r>
          </a:p>
          <a:p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Proposition du thème « ’A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fa’a’oto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ana’e i te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mau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Tāpa’o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Tumu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 ».</a:t>
            </a:r>
          </a:p>
          <a:p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Les points essentiels à aborder :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Bilan global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Acter la proposition du thème ainsi que la date retenue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du mardi 20 avril 2027 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(selon le calendrier temps fort 26-27 n°2687 18/09/26)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de 9h à 11h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au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Grand Théâtre du TFTN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Proposition d’échéancier pour cette année.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Aborder le sujet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d’une école des Marquises et celui de Taha’a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Projection pour l’année prochaine « fusion 1D&amp;2D »</a:t>
            </a:r>
          </a:p>
        </p:txBody>
      </p:sp>
    </p:spTree>
    <p:extLst>
      <p:ext uri="{BB962C8B-B14F-4D97-AF65-F5344CB8AC3E}">
        <p14:creationId xmlns:p14="http://schemas.microsoft.com/office/powerpoint/2010/main" val="21495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8" descr="IMG_4428.png">
            <a:extLst>
              <a:ext uri="{FF2B5EF4-FFF2-40B4-BE49-F238E27FC236}">
                <a16:creationId xmlns:a16="http://schemas.microsoft.com/office/drawing/2014/main" id="{69B676A7-FFD1-8468-6AC1-8BA760E3CE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2838" b="61734"/>
          <a:stretch/>
        </p:blipFill>
        <p:spPr>
          <a:xfrm rot="16200000">
            <a:off x="-3210035" y="3210033"/>
            <a:ext cx="6858001" cy="43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DA91F0C-FF29-185E-1EEA-727D1B709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17" y="195388"/>
            <a:ext cx="9200191" cy="65405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D2E6B5D-7884-BCF5-D7E5-957EE4C5059E}"/>
              </a:ext>
            </a:extLst>
          </p:cNvPr>
          <p:cNvSpPr txBox="1"/>
          <p:nvPr/>
        </p:nvSpPr>
        <p:spPr>
          <a:xfrm>
            <a:off x="9351768" y="207596"/>
            <a:ext cx="28734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2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2a. Bilan des écoles et établissements </a:t>
            </a:r>
            <a:r>
              <a:rPr lang="fr-FR" sz="22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Heiva</a:t>
            </a:r>
            <a:r>
              <a:rPr lang="fr-FR" sz="22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fr-FR" sz="22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Hīmene</a:t>
            </a:r>
            <a:r>
              <a:rPr lang="fr-FR" sz="22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fr-FR" sz="22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Tumu</a:t>
            </a:r>
            <a:r>
              <a:rPr lang="fr-FR" sz="22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2026</a:t>
            </a:r>
            <a:endParaRPr lang="fr-PF" sz="22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0906043-9105-89ED-00AB-B598B51F1305}"/>
              </a:ext>
            </a:extLst>
          </p:cNvPr>
          <p:cNvSpPr txBox="1"/>
          <p:nvPr/>
        </p:nvSpPr>
        <p:spPr>
          <a:xfrm>
            <a:off x="9617108" y="1499436"/>
            <a:ext cx="260811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Calibri" panose="020F0502020204030204" pitchFamily="34" charset="0"/>
                <a:cs typeface="Calibri" panose="020F0502020204030204" pitchFamily="34" charset="0"/>
              </a:rPr>
              <a:t>Les points essentiels à aborder :</a:t>
            </a:r>
          </a:p>
          <a:p>
            <a:r>
              <a:rPr lang="fr-FR" sz="1600" dirty="0">
                <a:latin typeface="Calibri" panose="020F0502020204030204" pitchFamily="34" charset="0"/>
              </a:rPr>
              <a:t>*</a:t>
            </a:r>
            <a:r>
              <a:rPr lang="fr-PF" sz="1600" dirty="0">
                <a:latin typeface="Calibri" panose="020F0502020204030204" pitchFamily="34" charset="0"/>
              </a:rPr>
              <a:t>Bilan très positif, avec des retours particulièrement favorables de la part des élèves, des enseignants et des professeurs.</a:t>
            </a:r>
          </a:p>
          <a:p>
            <a:endParaRPr lang="fr-FR" sz="1600" dirty="0">
              <a:latin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</a:rPr>
              <a:t>*Très belle prestation des élèves de </a:t>
            </a:r>
            <a:r>
              <a:rPr lang="fr-FR" sz="1600" dirty="0" err="1">
                <a:latin typeface="Calibri" panose="020F0502020204030204" pitchFamily="34" charset="0"/>
              </a:rPr>
              <a:t>Rimatara</a:t>
            </a:r>
            <a:endParaRPr lang="fr-FR" sz="1600" dirty="0">
              <a:latin typeface="Calibri" panose="020F0502020204030204" pitchFamily="34" charset="0"/>
            </a:endParaRPr>
          </a:p>
          <a:p>
            <a:endParaRPr lang="fr-FR" sz="1600" dirty="0">
              <a:latin typeface="Calibri" panose="020F0502020204030204" pitchFamily="34" charset="0"/>
            </a:endParaRPr>
          </a:p>
          <a:p>
            <a:r>
              <a:rPr lang="fr-FR" sz="1600" b="1" dirty="0">
                <a:latin typeface="Calibri" panose="020F0502020204030204" pitchFamily="34" charset="0"/>
              </a:rPr>
              <a:t>Perspectives : </a:t>
            </a:r>
          </a:p>
          <a:p>
            <a:r>
              <a:rPr lang="fr-FR" sz="1600" dirty="0">
                <a:latin typeface="Calibri" panose="020F0502020204030204" pitchFamily="34" charset="0"/>
              </a:rPr>
              <a:t>*</a:t>
            </a:r>
            <a:r>
              <a:rPr lang="fr-PF" sz="1600" dirty="0">
                <a:latin typeface="Calibri" panose="020F0502020204030204" pitchFamily="34" charset="0"/>
              </a:rPr>
              <a:t>Améliorer la fluidité des déplacements et des enchaînements entre les groupes.</a:t>
            </a:r>
            <a:endParaRPr lang="fr-FR" sz="1600" dirty="0">
              <a:latin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</a:rPr>
              <a:t>*anticiper le retour à l’école pour certaines écoles.</a:t>
            </a:r>
          </a:p>
          <a:p>
            <a:r>
              <a:rPr lang="fr-FR" sz="1600" dirty="0">
                <a:latin typeface="Calibri" panose="020F0502020204030204" pitchFamily="34" charset="0"/>
              </a:rPr>
              <a:t>*aborder le sujet de l’accueil des transports dans le parking TFTN</a:t>
            </a:r>
            <a:endParaRPr lang="fr-PF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04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8" descr="IMG_4428.png">
            <a:extLst>
              <a:ext uri="{FF2B5EF4-FFF2-40B4-BE49-F238E27FC236}">
                <a16:creationId xmlns:a16="http://schemas.microsoft.com/office/drawing/2014/main" id="{69B676A7-FFD1-8468-6AC1-8BA760E3CE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2838" b="61734"/>
          <a:stretch/>
        </p:blipFill>
        <p:spPr>
          <a:xfrm rot="16200000">
            <a:off x="-3210035" y="3210033"/>
            <a:ext cx="6858001" cy="43793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D2E6B5D-7884-BCF5-D7E5-957EE4C5059E}"/>
              </a:ext>
            </a:extLst>
          </p:cNvPr>
          <p:cNvSpPr txBox="1"/>
          <p:nvPr/>
        </p:nvSpPr>
        <p:spPr>
          <a:xfrm>
            <a:off x="2836166" y="170962"/>
            <a:ext cx="683536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5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2b. Bilan financier </a:t>
            </a:r>
            <a:r>
              <a:rPr lang="fr-FR" sz="25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Heiva</a:t>
            </a:r>
            <a:r>
              <a:rPr lang="fr-FR" sz="25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fr-FR" sz="25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Hīmene</a:t>
            </a:r>
            <a:r>
              <a:rPr lang="fr-FR" sz="25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fr-FR" sz="25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Tumu</a:t>
            </a:r>
            <a:r>
              <a:rPr lang="fr-FR" sz="25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2026</a:t>
            </a:r>
            <a:endParaRPr lang="fr-PF" sz="25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596EA97-837C-CFEA-6C11-441AAA56E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91" y="746549"/>
            <a:ext cx="10316797" cy="4700316"/>
          </a:xfrm>
          <a:prstGeom prst="rect">
            <a:avLst/>
          </a:prstGeom>
        </p:spPr>
      </p:pic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2D890E8B-951E-02B2-8AB2-BE31919EDFF5}"/>
              </a:ext>
            </a:extLst>
          </p:cNvPr>
          <p:cNvSpPr txBox="1"/>
          <p:nvPr/>
        </p:nvSpPr>
        <p:spPr>
          <a:xfrm>
            <a:off x="649791" y="5806965"/>
            <a:ext cx="10316797" cy="752520"/>
          </a:xfrm>
          <a:prstGeom prst="rect">
            <a:avLst/>
          </a:prstGeom>
          <a:noFill/>
          <a:ln w="88900" cap="flat" cmpd="sng">
            <a:solidFill>
              <a:srgbClr val="E224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4200"/>
            </a:pPr>
            <a:r>
              <a:rPr lang="fr-PF" sz="2500" b="1" dirty="0"/>
              <a:t>Bilan positif, dans la mesure où le coût effectif de l’opération reste inférieur au budget alloué pour cette année, fixé à 5 000 000 XPF</a:t>
            </a:r>
            <a:endParaRPr lang="fr-PF" sz="2500" dirty="0"/>
          </a:p>
        </p:txBody>
      </p:sp>
      <p:pic>
        <p:nvPicPr>
          <p:cNvPr id="8" name="Google Shape;122;p4">
            <a:extLst>
              <a:ext uri="{FF2B5EF4-FFF2-40B4-BE49-F238E27FC236}">
                <a16:creationId xmlns:a16="http://schemas.microsoft.com/office/drawing/2014/main" id="{940A9676-F397-9116-BC78-7AC4DD5696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714" t="45057" r="70246" b="29887"/>
          <a:stretch/>
        </p:blipFill>
        <p:spPr>
          <a:xfrm>
            <a:off x="11147800" y="4108401"/>
            <a:ext cx="932355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" name="Google Shape;123;p4">
            <a:extLst>
              <a:ext uri="{FF2B5EF4-FFF2-40B4-BE49-F238E27FC236}">
                <a16:creationId xmlns:a16="http://schemas.microsoft.com/office/drawing/2014/main" id="{9EB819E4-93A9-9293-35C9-84BF50FEA9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161481" y="2470477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4" name="Google Shape;124;p4">
            <a:extLst>
              <a:ext uri="{FF2B5EF4-FFF2-40B4-BE49-F238E27FC236}">
                <a16:creationId xmlns:a16="http://schemas.microsoft.com/office/drawing/2014/main" id="{A530A937-62C6-75B8-BD0B-77BB933FCA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164452" y="836886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2988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13"/>
          <p:cNvGrpSpPr/>
          <p:nvPr/>
        </p:nvGrpSpPr>
        <p:grpSpPr>
          <a:xfrm>
            <a:off x="0" y="1462818"/>
            <a:ext cx="12192000" cy="4584338"/>
            <a:chOff x="-1" y="-1"/>
            <a:chExt cx="11401424" cy="3232561"/>
          </a:xfrm>
        </p:grpSpPr>
        <p:sp>
          <p:nvSpPr>
            <p:cNvPr id="556" name="Google Shape;556;p13"/>
            <p:cNvSpPr/>
            <p:nvPr/>
          </p:nvSpPr>
          <p:spPr>
            <a:xfrm rot="5400000">
              <a:off x="-1330640" y="1504665"/>
              <a:ext cx="2890203" cy="22892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496" y="5262"/>
                  </a:moveTo>
                  <a:cubicBezTo>
                    <a:pt x="21373" y="2115"/>
                    <a:pt x="21166" y="0"/>
                    <a:pt x="20919" y="0"/>
                  </a:cubicBezTo>
                  <a:lnTo>
                    <a:pt x="680" y="0"/>
                  </a:lnTo>
                  <a:cubicBezTo>
                    <a:pt x="289" y="0"/>
                    <a:pt x="0" y="5262"/>
                    <a:pt x="0" y="11052"/>
                  </a:cubicBezTo>
                  <a:cubicBezTo>
                    <a:pt x="0" y="16867"/>
                    <a:pt x="309" y="21600"/>
                    <a:pt x="680" y="21600"/>
                  </a:cubicBezTo>
                  <a:lnTo>
                    <a:pt x="20919" y="21600"/>
                  </a:lnTo>
                  <a:cubicBezTo>
                    <a:pt x="21270" y="21600"/>
                    <a:pt x="21579" y="17371"/>
                    <a:pt x="21600" y="11580"/>
                  </a:cubicBezTo>
                  <a:lnTo>
                    <a:pt x="21600" y="5262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3"/>
            <p:cNvSpPr/>
            <p:nvPr/>
          </p:nvSpPr>
          <p:spPr>
            <a:xfrm rot="5400000">
              <a:off x="-1274681" y="1504472"/>
              <a:ext cx="2890203" cy="229312"/>
            </a:xfrm>
            <a:custGeom>
              <a:avLst/>
              <a:gdLst/>
              <a:ahLst/>
              <a:cxnLst/>
              <a:rect l="l" t="t" r="r" b="b"/>
              <a:pathLst>
                <a:path w="21600" h="21120" extrusionOk="0">
                  <a:moveTo>
                    <a:pt x="21600" y="10308"/>
                  </a:moveTo>
                  <a:cubicBezTo>
                    <a:pt x="21600" y="15960"/>
                    <a:pt x="21290" y="21120"/>
                    <a:pt x="20919" y="21120"/>
                  </a:cubicBezTo>
                  <a:lnTo>
                    <a:pt x="680" y="21120"/>
                  </a:lnTo>
                  <a:cubicBezTo>
                    <a:pt x="309" y="21120"/>
                    <a:pt x="0" y="15960"/>
                    <a:pt x="0" y="10308"/>
                  </a:cubicBezTo>
                  <a:cubicBezTo>
                    <a:pt x="0" y="4656"/>
                    <a:pt x="309" y="36"/>
                    <a:pt x="680" y="36"/>
                  </a:cubicBezTo>
                  <a:lnTo>
                    <a:pt x="20919" y="36"/>
                  </a:lnTo>
                  <a:cubicBezTo>
                    <a:pt x="21290" y="-480"/>
                    <a:pt x="21600" y="4656"/>
                    <a:pt x="21600" y="10308"/>
                  </a:cubicBezTo>
                  <a:close/>
                </a:path>
              </a:pathLst>
            </a:custGeom>
            <a:solidFill>
              <a:srgbClr val="674D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 rot="5400000">
              <a:off x="7628827" y="-540035"/>
              <a:ext cx="3232561" cy="431263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031" y="0"/>
                  </a:moveTo>
                  <a:lnTo>
                    <a:pt x="0" y="10441"/>
                  </a:lnTo>
                  <a:lnTo>
                    <a:pt x="2583" y="10441"/>
                  </a:lnTo>
                  <a:lnTo>
                    <a:pt x="2583" y="21600"/>
                  </a:lnTo>
                  <a:lnTo>
                    <a:pt x="19479" y="21600"/>
                  </a:lnTo>
                  <a:lnTo>
                    <a:pt x="19479" y="10441"/>
                  </a:lnTo>
                  <a:lnTo>
                    <a:pt x="21600" y="10441"/>
                  </a:lnTo>
                  <a:lnTo>
                    <a:pt x="11031" y="0"/>
                  </a:lnTo>
                  <a:close/>
                </a:path>
              </a:pathLst>
            </a:custGeom>
            <a:solidFill>
              <a:srgbClr val="DAC19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 rot="5400000">
              <a:off x="4451082" y="-375535"/>
              <a:ext cx="2528582" cy="40528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658" y="0"/>
                  </a:moveTo>
                  <a:lnTo>
                    <a:pt x="8512" y="2857"/>
                  </a:lnTo>
                  <a:lnTo>
                    <a:pt x="0" y="285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857"/>
                  </a:lnTo>
                  <a:lnTo>
                    <a:pt x="12804" y="2857"/>
                  </a:lnTo>
                  <a:lnTo>
                    <a:pt x="10658" y="0"/>
                  </a:lnTo>
                  <a:close/>
                </a:path>
              </a:pathLst>
            </a:custGeom>
            <a:solidFill>
              <a:srgbClr val="E6D6B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 rot="5400000">
              <a:off x="941062" y="-381139"/>
              <a:ext cx="2528583" cy="406401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658" y="0"/>
                  </a:moveTo>
                  <a:lnTo>
                    <a:pt x="8512" y="2877"/>
                  </a:lnTo>
                  <a:lnTo>
                    <a:pt x="0" y="287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877"/>
                  </a:lnTo>
                  <a:lnTo>
                    <a:pt x="12804" y="2877"/>
                  </a:lnTo>
                  <a:lnTo>
                    <a:pt x="10658" y="0"/>
                  </a:lnTo>
                  <a:close/>
                </a:path>
              </a:pathLst>
            </a:custGeom>
            <a:solidFill>
              <a:srgbClr val="009A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 rot="5400000">
              <a:off x="941062" y="-381139"/>
              <a:ext cx="2528583" cy="406401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2804" y="2877"/>
                  </a:moveTo>
                  <a:lnTo>
                    <a:pt x="10658" y="0"/>
                  </a:lnTo>
                  <a:lnTo>
                    <a:pt x="8512" y="2877"/>
                  </a:lnTo>
                  <a:lnTo>
                    <a:pt x="0" y="287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877"/>
                  </a:lnTo>
                  <a:close/>
                </a:path>
              </a:pathLst>
            </a:custGeom>
            <a:solidFill>
              <a:srgbClr val="F3EAD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13"/>
          <p:cNvGrpSpPr/>
          <p:nvPr/>
        </p:nvGrpSpPr>
        <p:grpSpPr>
          <a:xfrm>
            <a:off x="792901" y="1327246"/>
            <a:ext cx="3910063" cy="585610"/>
            <a:chOff x="-600977" y="-1"/>
            <a:chExt cx="3910062" cy="585607"/>
          </a:xfrm>
        </p:grpSpPr>
        <p:sp>
          <p:nvSpPr>
            <p:cNvPr id="563" name="Google Shape;563;p13"/>
            <p:cNvSpPr/>
            <p:nvPr/>
          </p:nvSpPr>
          <p:spPr>
            <a:xfrm>
              <a:off x="-1" y="-1"/>
              <a:ext cx="3309086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300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564" name="Google Shape;564;p13"/>
            <p:cNvSpPr txBox="1"/>
            <p:nvPr/>
          </p:nvSpPr>
          <p:spPr>
            <a:xfrm>
              <a:off x="-600977" y="31701"/>
              <a:ext cx="3217646" cy="55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2400"/>
              </a:pPr>
              <a:r>
                <a:rPr lang="en-US" sz="3000" dirty="0">
                  <a:latin typeface="Calibri" panose="020F0502020204030204" pitchFamily="34" charset="0"/>
                  <a:ea typeface="Avenir"/>
                  <a:cs typeface="Calibri" panose="020F0502020204030204" pitchFamily="34" charset="0"/>
                  <a:sym typeface="Avenir"/>
                </a:rPr>
                <a:t>INSCRITS</a:t>
              </a:r>
              <a:endParaRPr sz="3000" dirty="0">
                <a:latin typeface="Calibri" panose="020F0502020204030204" pitchFamily="34" charset="0"/>
                <a:ea typeface="Avenir"/>
                <a:cs typeface="Calibri" panose="020F0502020204030204" pitchFamily="34" charset="0"/>
                <a:sym typeface="Avenir"/>
              </a:endParaRPr>
            </a:p>
          </p:txBody>
        </p:sp>
      </p:grpSp>
      <p:grpSp>
        <p:nvGrpSpPr>
          <p:cNvPr id="565" name="Google Shape;565;p13"/>
          <p:cNvGrpSpPr/>
          <p:nvPr/>
        </p:nvGrpSpPr>
        <p:grpSpPr>
          <a:xfrm>
            <a:off x="8035950" y="1382753"/>
            <a:ext cx="2857737" cy="553908"/>
            <a:chOff x="-933252" y="-2537"/>
            <a:chExt cx="2857734" cy="553905"/>
          </a:xfrm>
        </p:grpSpPr>
        <p:sp>
          <p:nvSpPr>
            <p:cNvPr id="566" name="Google Shape;566;p13"/>
            <p:cNvSpPr/>
            <p:nvPr/>
          </p:nvSpPr>
          <p:spPr>
            <a:xfrm>
              <a:off x="0" y="-1"/>
              <a:ext cx="1924482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300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567" name="Google Shape;567;p13"/>
            <p:cNvSpPr txBox="1"/>
            <p:nvPr/>
          </p:nvSpPr>
          <p:spPr>
            <a:xfrm>
              <a:off x="-933252" y="-2537"/>
              <a:ext cx="2232641" cy="55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2400"/>
              </a:pPr>
              <a:r>
                <a:rPr lang="en-US" sz="3000" dirty="0">
                  <a:latin typeface="Calibri" panose="020F0502020204030204" pitchFamily="34" charset="0"/>
                  <a:ea typeface="Avenir"/>
                  <a:cs typeface="Calibri" panose="020F0502020204030204" pitchFamily="34" charset="0"/>
                  <a:sym typeface="Avenir"/>
                </a:rPr>
                <a:t>RENCONTRE</a:t>
              </a:r>
              <a:endParaRPr sz="3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68" name="Google Shape;568;p13"/>
          <p:cNvGrpSpPr/>
          <p:nvPr/>
        </p:nvGrpSpPr>
        <p:grpSpPr>
          <a:xfrm>
            <a:off x="4223053" y="1384580"/>
            <a:ext cx="3954091" cy="553907"/>
            <a:chOff x="-492362" y="-4240"/>
            <a:chExt cx="3954090" cy="553906"/>
          </a:xfrm>
        </p:grpSpPr>
        <p:sp>
          <p:nvSpPr>
            <p:cNvPr id="569" name="Google Shape;569;p13"/>
            <p:cNvSpPr/>
            <p:nvPr/>
          </p:nvSpPr>
          <p:spPr>
            <a:xfrm>
              <a:off x="-1" y="-1"/>
              <a:ext cx="3461729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SzPts val="1800"/>
              </a:pPr>
              <a:endParaRPr sz="300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570" name="Google Shape;570;p13"/>
            <p:cNvSpPr txBox="1"/>
            <p:nvPr/>
          </p:nvSpPr>
          <p:spPr>
            <a:xfrm>
              <a:off x="-492362" y="-4240"/>
              <a:ext cx="3370289" cy="553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2400"/>
              </a:pPr>
              <a:r>
                <a:rPr lang="en-US" sz="3000" dirty="0">
                  <a:latin typeface="Calibri" panose="020F0502020204030204" pitchFamily="34" charset="0"/>
                  <a:ea typeface="Avenir"/>
                  <a:cs typeface="Calibri" panose="020F0502020204030204" pitchFamily="34" charset="0"/>
                  <a:sym typeface="Avenir"/>
                </a:rPr>
                <a:t>TERE FA’A’ATI</a:t>
              </a:r>
              <a:endParaRPr sz="3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71" name="Google Shape;571;p13" descr="Google Shape;43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992" y="3454219"/>
            <a:ext cx="727090" cy="72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13" descr="Google Shape;43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658" y="4247190"/>
            <a:ext cx="579132" cy="727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3" name="Google Shape;573;p13"/>
          <p:cNvGrpSpPr/>
          <p:nvPr/>
        </p:nvGrpSpPr>
        <p:grpSpPr>
          <a:xfrm>
            <a:off x="1312904" y="3489517"/>
            <a:ext cx="2631859" cy="646240"/>
            <a:chOff x="0" y="1981"/>
            <a:chExt cx="2631857" cy="646237"/>
          </a:xfrm>
        </p:grpSpPr>
        <p:sp>
          <p:nvSpPr>
            <p:cNvPr id="574" name="Google Shape;574;p13"/>
            <p:cNvSpPr/>
            <p:nvPr/>
          </p:nvSpPr>
          <p:spPr>
            <a:xfrm>
              <a:off x="0" y="67472"/>
              <a:ext cx="2631857" cy="515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3"/>
            <p:cNvSpPr txBox="1"/>
            <p:nvPr/>
          </p:nvSpPr>
          <p:spPr>
            <a:xfrm>
              <a:off x="45718" y="1981"/>
              <a:ext cx="2540419" cy="6462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00"/>
              </a:pPr>
              <a:r>
                <a:rPr lang="en-US" sz="1800" dirty="0"/>
                <a:t>Au plus </a:t>
              </a:r>
              <a:r>
                <a:rPr lang="en-US" sz="1800" dirty="0" err="1"/>
                <a:t>tard</a:t>
              </a:r>
              <a:r>
                <a:rPr lang="en-US" sz="1800" dirty="0"/>
                <a:t> </a:t>
              </a:r>
              <a:r>
                <a:rPr lang="en-US" sz="1800" dirty="0" err="1"/>
                <a:t>le</a:t>
              </a:r>
              <a:r>
                <a:rPr lang="en-US" sz="1800" dirty="0"/>
                <a:t> 1</a:t>
              </a:r>
              <a:r>
                <a:rPr lang="fr-FR" sz="1800" dirty="0"/>
                <a:t>1</a:t>
              </a:r>
              <a:r>
                <a:rPr lang="en-US" sz="1800" dirty="0"/>
                <a:t>/12/202</a:t>
              </a:r>
              <a:r>
                <a:rPr lang="fr-FR" sz="1800" dirty="0"/>
                <a:t>6</a:t>
              </a:r>
              <a:endParaRPr sz="1800" dirty="0"/>
            </a:p>
          </p:txBody>
        </p:sp>
      </p:grpSp>
      <p:grpSp>
        <p:nvGrpSpPr>
          <p:cNvPr id="576" name="Google Shape;576;p13"/>
          <p:cNvGrpSpPr/>
          <p:nvPr/>
        </p:nvGrpSpPr>
        <p:grpSpPr>
          <a:xfrm>
            <a:off x="1290242" y="4367783"/>
            <a:ext cx="2631863" cy="515301"/>
            <a:chOff x="-1" y="-1"/>
            <a:chExt cx="2631861" cy="515300"/>
          </a:xfrm>
        </p:grpSpPr>
        <p:sp>
          <p:nvSpPr>
            <p:cNvPr id="577" name="Google Shape;577;p13"/>
            <p:cNvSpPr/>
            <p:nvPr/>
          </p:nvSpPr>
          <p:spPr>
            <a:xfrm>
              <a:off x="-1" y="-1"/>
              <a:ext cx="2631861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3"/>
            <p:cNvSpPr txBox="1"/>
            <p:nvPr/>
          </p:nvSpPr>
          <p:spPr>
            <a:xfrm>
              <a:off x="45719" y="11452"/>
              <a:ext cx="2540420" cy="4923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00"/>
              </a:pPr>
              <a:r>
                <a:rPr lang="en-US" sz="1300" dirty="0" err="1"/>
                <a:t>Éco</a:t>
              </a:r>
              <a:r>
                <a:rPr lang="fr-FR" sz="1300" dirty="0"/>
                <a:t>les</a:t>
              </a:r>
              <a:r>
                <a:rPr lang="en-US" sz="1300" dirty="0"/>
                <a:t> et CJA - </a:t>
              </a:r>
              <a:r>
                <a:rPr lang="fr-FR" sz="1300" dirty="0"/>
                <a:t>Établissements</a:t>
              </a:r>
              <a:endParaRPr lang="en-US" sz="1300" dirty="0"/>
            </a:p>
            <a:p>
              <a:pPr algn="ctr">
                <a:buSzPts val="1600"/>
              </a:pPr>
              <a:r>
                <a:rPr lang="fr-FR" sz="1300" dirty="0"/>
                <a:t>Nombres d’</a:t>
              </a:r>
              <a:r>
                <a:rPr lang="en-US" sz="1300" dirty="0" err="1"/>
                <a:t>élèves</a:t>
              </a:r>
              <a:endParaRPr lang="en-US" sz="1300" dirty="0"/>
            </a:p>
          </p:txBody>
        </p:sp>
      </p:grpSp>
      <p:sp>
        <p:nvSpPr>
          <p:cNvPr id="579" name="Google Shape;579;p13"/>
          <p:cNvSpPr/>
          <p:nvPr/>
        </p:nvSpPr>
        <p:spPr>
          <a:xfrm>
            <a:off x="1271857" y="2766964"/>
            <a:ext cx="2631860" cy="5153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800"/>
            </a:pPr>
            <a:r>
              <a:rPr lang="en-US" sz="1800" dirty="0"/>
              <a:t>Tahiti - Moorea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13" descr="Google Shape;44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9589" y="3456100"/>
            <a:ext cx="727090" cy="72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13" descr="Google Shape;44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3052" y="4269543"/>
            <a:ext cx="579132" cy="727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2" name="Google Shape;582;p13"/>
          <p:cNvGrpSpPr/>
          <p:nvPr/>
        </p:nvGrpSpPr>
        <p:grpSpPr>
          <a:xfrm>
            <a:off x="4904672" y="3514483"/>
            <a:ext cx="2631860" cy="646240"/>
            <a:chOff x="0" y="-65491"/>
            <a:chExt cx="2631858" cy="646239"/>
          </a:xfrm>
        </p:grpSpPr>
        <p:sp>
          <p:nvSpPr>
            <p:cNvPr id="583" name="Google Shape;583;p13"/>
            <p:cNvSpPr/>
            <p:nvPr/>
          </p:nvSpPr>
          <p:spPr>
            <a:xfrm>
              <a:off x="0" y="-1"/>
              <a:ext cx="2631858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3"/>
            <p:cNvSpPr txBox="1"/>
            <p:nvPr/>
          </p:nvSpPr>
          <p:spPr>
            <a:xfrm>
              <a:off x="45719" y="-65491"/>
              <a:ext cx="2540419" cy="646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00"/>
              </a:pPr>
              <a:r>
                <a:rPr lang="en-US" sz="1800" dirty="0"/>
                <a:t>Du 1</a:t>
              </a:r>
              <a:r>
                <a:rPr lang="fr-FR" sz="1800" dirty="0"/>
                <a:t>5</a:t>
              </a:r>
              <a:r>
                <a:rPr lang="en-US" sz="1800" dirty="0"/>
                <a:t>/03 au</a:t>
              </a:r>
              <a:endParaRPr sz="1800" dirty="0"/>
            </a:p>
            <a:p>
              <a:pPr algn="ctr">
                <a:buSzPts val="1600"/>
              </a:pPr>
              <a:r>
                <a:rPr lang="en-US" sz="1800" dirty="0"/>
                <a:t> 2</a:t>
              </a:r>
              <a:r>
                <a:rPr lang="fr-FR" sz="1800" dirty="0"/>
                <a:t>5</a:t>
              </a:r>
              <a:r>
                <a:rPr lang="en-US" sz="1800" dirty="0"/>
                <a:t>/03/202</a:t>
              </a:r>
              <a:r>
                <a:rPr lang="fr-FR" sz="1800" dirty="0"/>
                <a:t>7</a:t>
              </a:r>
              <a:endParaRPr sz="1800" dirty="0"/>
            </a:p>
          </p:txBody>
        </p:sp>
      </p:grpSp>
      <p:grpSp>
        <p:nvGrpSpPr>
          <p:cNvPr id="585" name="Google Shape;585;p13"/>
          <p:cNvGrpSpPr/>
          <p:nvPr/>
        </p:nvGrpSpPr>
        <p:grpSpPr>
          <a:xfrm>
            <a:off x="4803364" y="4375291"/>
            <a:ext cx="2848179" cy="553907"/>
            <a:chOff x="-99197" y="-19325"/>
            <a:chExt cx="2848177" cy="553906"/>
          </a:xfrm>
        </p:grpSpPr>
        <p:sp>
          <p:nvSpPr>
            <p:cNvPr id="586" name="Google Shape;586;p13"/>
            <p:cNvSpPr/>
            <p:nvPr/>
          </p:nvSpPr>
          <p:spPr>
            <a:xfrm>
              <a:off x="-1" y="-1"/>
              <a:ext cx="2631861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3"/>
            <p:cNvSpPr txBox="1"/>
            <p:nvPr/>
          </p:nvSpPr>
          <p:spPr>
            <a:xfrm>
              <a:off x="-99197" y="-19325"/>
              <a:ext cx="2848177" cy="553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00"/>
              </a:pPr>
              <a:r>
                <a:rPr lang="en-US" sz="1500" dirty="0" err="1"/>
                <a:t>Éco</a:t>
              </a:r>
              <a:r>
                <a:rPr lang="fr-FR" sz="1500" dirty="0"/>
                <a:t>les</a:t>
              </a:r>
              <a:r>
                <a:rPr lang="en-US" sz="1500" dirty="0"/>
                <a:t> et CJA - </a:t>
              </a:r>
              <a:r>
                <a:rPr lang="fr-FR" sz="1500" dirty="0"/>
                <a:t>Établissements</a:t>
              </a:r>
              <a:endParaRPr lang="en-US" sz="1500" dirty="0"/>
            </a:p>
            <a:p>
              <a:pPr algn="ctr">
                <a:buSzPts val="1600"/>
              </a:pPr>
              <a:r>
                <a:rPr lang="fr-FR" sz="1500" dirty="0"/>
                <a:t>Nombres d’</a:t>
              </a:r>
              <a:r>
                <a:rPr lang="en-US" sz="1500" dirty="0" err="1"/>
                <a:t>élèves</a:t>
              </a:r>
              <a:endParaRPr lang="en-US" sz="1500" dirty="0"/>
            </a:p>
          </p:txBody>
        </p:sp>
      </p:grpSp>
      <p:grpSp>
        <p:nvGrpSpPr>
          <p:cNvPr id="588" name="Google Shape;588;p13"/>
          <p:cNvGrpSpPr/>
          <p:nvPr/>
        </p:nvGrpSpPr>
        <p:grpSpPr>
          <a:xfrm>
            <a:off x="4904672" y="2766964"/>
            <a:ext cx="2631860" cy="515301"/>
            <a:chOff x="0" y="-1"/>
            <a:chExt cx="2631858" cy="515300"/>
          </a:xfrm>
        </p:grpSpPr>
        <p:sp>
          <p:nvSpPr>
            <p:cNvPr id="589" name="Google Shape;589;p13"/>
            <p:cNvSpPr/>
            <p:nvPr/>
          </p:nvSpPr>
          <p:spPr>
            <a:xfrm>
              <a:off x="0" y="-1"/>
              <a:ext cx="2631858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3"/>
            <p:cNvSpPr txBox="1"/>
            <p:nvPr/>
          </p:nvSpPr>
          <p:spPr>
            <a:xfrm>
              <a:off x="45719" y="73009"/>
              <a:ext cx="2540419" cy="36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r>
                <a:rPr lang="en-US" sz="1800" dirty="0"/>
                <a:t>Tahiti - Moorea</a:t>
              </a:r>
              <a:endParaRPr sz="1800" dirty="0"/>
            </a:p>
          </p:txBody>
        </p:sp>
      </p:grpSp>
      <p:pic>
        <p:nvPicPr>
          <p:cNvPr id="591" name="Google Shape;591;p13" descr="Google Shape;45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1282" y="4296616"/>
            <a:ext cx="579132" cy="727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2" name="Google Shape;592;p13"/>
          <p:cNvGrpSpPr/>
          <p:nvPr/>
        </p:nvGrpSpPr>
        <p:grpSpPr>
          <a:xfrm>
            <a:off x="8612905" y="3607045"/>
            <a:ext cx="2631860" cy="515301"/>
            <a:chOff x="0" y="-1"/>
            <a:chExt cx="2631858" cy="515300"/>
          </a:xfrm>
        </p:grpSpPr>
        <p:sp>
          <p:nvSpPr>
            <p:cNvPr id="593" name="Google Shape;593;p13"/>
            <p:cNvSpPr/>
            <p:nvPr/>
          </p:nvSpPr>
          <p:spPr>
            <a:xfrm>
              <a:off x="0" y="-1"/>
              <a:ext cx="2631858" cy="51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800"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3"/>
            <p:cNvSpPr txBox="1"/>
            <p:nvPr/>
          </p:nvSpPr>
          <p:spPr>
            <a:xfrm>
              <a:off x="45719" y="73008"/>
              <a:ext cx="2540419" cy="36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buSzPts val="1600"/>
              </a:pPr>
              <a:r>
                <a:rPr lang="fr-FR" sz="1800" dirty="0"/>
                <a:t>20</a:t>
              </a:r>
              <a:r>
                <a:rPr lang="en-US" sz="1800" dirty="0"/>
                <a:t>/04/202</a:t>
              </a:r>
              <a:r>
                <a:rPr lang="fr-FR" sz="1800" dirty="0"/>
                <a:t>7</a:t>
              </a:r>
              <a:endParaRPr sz="1800" dirty="0"/>
            </a:p>
          </p:txBody>
        </p:sp>
      </p:grpSp>
      <p:sp>
        <p:nvSpPr>
          <p:cNvPr id="595" name="Google Shape;595;p13"/>
          <p:cNvSpPr/>
          <p:nvPr/>
        </p:nvSpPr>
        <p:spPr>
          <a:xfrm>
            <a:off x="8612903" y="4353104"/>
            <a:ext cx="2631862" cy="5153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600"/>
            </a:pPr>
            <a:r>
              <a:rPr lang="fr-FR" sz="1800" noProof="0" dirty="0"/>
              <a:t>12 </a:t>
            </a:r>
          </a:p>
          <a:p>
            <a:pPr algn="ctr">
              <a:buSzPts val="1600"/>
            </a:pPr>
            <a:r>
              <a:rPr lang="fr-FR" sz="1800" noProof="0" dirty="0"/>
              <a:t>Écoles / Établissements</a:t>
            </a:r>
          </a:p>
        </p:txBody>
      </p:sp>
      <p:sp>
        <p:nvSpPr>
          <p:cNvPr id="596" name="Google Shape;596;p13"/>
          <p:cNvSpPr/>
          <p:nvPr/>
        </p:nvSpPr>
        <p:spPr>
          <a:xfrm>
            <a:off x="8612905" y="2794038"/>
            <a:ext cx="2631860" cy="5153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800"/>
            </a:pPr>
            <a:r>
              <a:rPr lang="en-US" sz="1800"/>
              <a:t>Te Fare Tauhiti Nui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1650535" y="1884379"/>
            <a:ext cx="95387" cy="9603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28" y="0"/>
                  <a:pt x="0" y="4846"/>
                  <a:pt x="0" y="10789"/>
                </a:cubicBezTo>
                <a:cubicBezTo>
                  <a:pt x="0" y="16754"/>
                  <a:pt x="4828" y="21600"/>
                  <a:pt x="10800" y="21600"/>
                </a:cubicBezTo>
                <a:cubicBezTo>
                  <a:pt x="16748" y="21600"/>
                  <a:pt x="21600" y="16754"/>
                  <a:pt x="21600" y="10789"/>
                </a:cubicBezTo>
                <a:cubicBezTo>
                  <a:pt x="21600" y="4846"/>
                  <a:pt x="16748" y="0"/>
                  <a:pt x="10800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800"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 txBox="1"/>
          <p:nvPr/>
        </p:nvSpPr>
        <p:spPr>
          <a:xfrm>
            <a:off x="4277206" y="5958031"/>
            <a:ext cx="3402346" cy="430797"/>
          </a:xfrm>
          <a:prstGeom prst="rect">
            <a:avLst/>
          </a:prstGeom>
          <a:solidFill>
            <a:srgbClr val="FBCC9A"/>
          </a:solidFill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200"/>
            </a:pPr>
            <a:r>
              <a:rPr lang="en-US" sz="2200" dirty="0">
                <a:latin typeface="Avenir"/>
                <a:ea typeface="Avenir"/>
                <a:cs typeface="Avenir"/>
                <a:sym typeface="Avenir"/>
              </a:rPr>
              <a:t>Sites : Tahiti - Moorea</a:t>
            </a:r>
            <a:endParaRPr sz="1400" dirty="0"/>
          </a:p>
        </p:txBody>
      </p:sp>
      <p:pic>
        <p:nvPicPr>
          <p:cNvPr id="614" name="Google Shape;614;p13" descr="Google Shape;48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3050" y="5838906"/>
            <a:ext cx="720002" cy="72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009" y="2775059"/>
            <a:ext cx="524979" cy="571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7206" y="2762857"/>
            <a:ext cx="524979" cy="571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4158" y="2804376"/>
            <a:ext cx="524979" cy="556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13" descr="Google Shape;44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542" y="3493462"/>
            <a:ext cx="727090" cy="7270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6;p3">
            <a:extLst>
              <a:ext uri="{FF2B5EF4-FFF2-40B4-BE49-F238E27FC236}">
                <a16:creationId xmlns:a16="http://schemas.microsoft.com/office/drawing/2014/main" id="{6482785C-7F9F-4C89-C9E9-3FF98EC7339D}"/>
              </a:ext>
            </a:extLst>
          </p:cNvPr>
          <p:cNvSpPr txBox="1"/>
          <p:nvPr/>
        </p:nvSpPr>
        <p:spPr>
          <a:xfrm>
            <a:off x="2103848" y="224759"/>
            <a:ext cx="7683619" cy="65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E22400"/>
              </a:buClr>
              <a:buSzPts val="8000"/>
            </a:pPr>
            <a:r>
              <a:rPr lang="fr-FR" sz="40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3. </a:t>
            </a:r>
            <a:r>
              <a:rPr lang="en-US" sz="40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I</a:t>
            </a:r>
            <a:r>
              <a:rPr lang="fr-FR" sz="4000" b="1" dirty="0" err="1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nformations</a:t>
            </a:r>
            <a:r>
              <a:rPr lang="fr-FR" sz="4000" b="1" dirty="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 générales </a:t>
            </a:r>
            <a:endParaRPr lang="en-US" sz="4000" b="1" dirty="0">
              <a:solidFill>
                <a:srgbClr val="FF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endParaRPr sz="350" b="1" dirty="0">
              <a:solidFill>
                <a:srgbClr val="FF0000"/>
              </a:solidFill>
            </a:endParaRPr>
          </a:p>
        </p:txBody>
      </p:sp>
      <p:pic>
        <p:nvPicPr>
          <p:cNvPr id="4" name="Google Shape;122;p4" descr="IMG_4428.png">
            <a:extLst>
              <a:ext uri="{FF2B5EF4-FFF2-40B4-BE49-F238E27FC236}">
                <a16:creationId xmlns:a16="http://schemas.microsoft.com/office/drawing/2014/main" id="{8F3B5942-A7AD-8255-C061-00FB592F858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6714" t="45057" r="70246" b="29887"/>
          <a:stretch/>
        </p:blipFill>
        <p:spPr>
          <a:xfrm>
            <a:off x="11085679" y="5875542"/>
            <a:ext cx="1079450" cy="862728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6" name="Google Shape;123;p4" descr="IMG_4809.jpeg">
            <a:extLst>
              <a:ext uri="{FF2B5EF4-FFF2-40B4-BE49-F238E27FC236}">
                <a16:creationId xmlns:a16="http://schemas.microsoft.com/office/drawing/2014/main" id="{BA5A2F6E-ED6C-926A-8231-625478DB9C7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3207" t="6200" r="5476" b="3045"/>
          <a:stretch/>
        </p:blipFill>
        <p:spPr>
          <a:xfrm>
            <a:off x="11302094" y="102641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8" name="Google Shape;124;p4" descr="IMG_4810.jpeg">
            <a:extLst>
              <a:ext uri="{FF2B5EF4-FFF2-40B4-BE49-F238E27FC236}">
                <a16:creationId xmlns:a16="http://schemas.microsoft.com/office/drawing/2014/main" id="{344A4201-A95D-720E-A5AB-49D5349FDFF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28735" t="2721" r="25640" b="38279"/>
          <a:stretch/>
        </p:blipFill>
        <p:spPr>
          <a:xfrm>
            <a:off x="289376" y="182442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" descr="IMG_4428.png"/>
          <p:cNvPicPr preferRelativeResize="0"/>
          <p:nvPr/>
        </p:nvPicPr>
        <p:blipFill rotWithShape="1">
          <a:blip r:embed="rId3">
            <a:alphaModFix/>
          </a:blip>
          <a:srcRect l="6714" t="45057" r="70246" b="29887"/>
          <a:stretch/>
        </p:blipFill>
        <p:spPr>
          <a:xfrm>
            <a:off x="11183925" y="3694655"/>
            <a:ext cx="932355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23" name="Google Shape;123;p4" descr="IMG_4809.jpeg"/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216613" y="2422833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24" name="Google Shape;124;p4" descr="IMG_4810.jpeg"/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206491" y="1208211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sp>
        <p:nvSpPr>
          <p:cNvPr id="125" name="Google Shape;125;p4"/>
          <p:cNvSpPr txBox="1"/>
          <p:nvPr/>
        </p:nvSpPr>
        <p:spPr>
          <a:xfrm>
            <a:off x="87075" y="1862043"/>
            <a:ext cx="10789500" cy="1087734"/>
          </a:xfrm>
          <a:prstGeom prst="rect">
            <a:avLst/>
          </a:prstGeom>
          <a:noFill/>
          <a:ln w="88900" cap="flat" cmpd="sng">
            <a:solidFill>
              <a:srgbClr val="E224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fr-FR" sz="2700" b="1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0</a:t>
            </a:r>
            <a:r>
              <a:rPr lang="fr-FR" sz="2700" b="1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5</a:t>
            </a:r>
            <a:r>
              <a:rPr lang="fr-FR" sz="2700" b="1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 octobre</a:t>
            </a:r>
            <a:r>
              <a:rPr lang="fr-FR" sz="2700" b="1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 au </a:t>
            </a:r>
            <a:r>
              <a:rPr lang="fr-FR" sz="2700" b="1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11</a:t>
            </a:r>
            <a:r>
              <a:rPr lang="fr-FR" sz="2700" b="1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 décembre 2026 : campagne d’inscription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fr-FR" sz="2700" b="1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11 décembre</a:t>
            </a:r>
            <a:r>
              <a:rPr lang="fr-FR" sz="2700" b="1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: date limite d’inscription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89455" y="921580"/>
            <a:ext cx="3523476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4</a:t>
            </a:r>
            <a:r>
              <a:rPr lang="fr-FR" sz="4000" b="1" i="0" u="none" strike="noStrike" cap="none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. </a:t>
            </a:r>
            <a:r>
              <a:rPr lang="en-US" sz="4000" b="1" i="0" u="none" strike="noStrike" cap="none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Inscription</a:t>
            </a:r>
            <a:endParaRPr sz="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7075" y="3684107"/>
            <a:ext cx="10789500" cy="2936701"/>
          </a:xfrm>
          <a:prstGeom prst="rect">
            <a:avLst/>
          </a:prstGeom>
          <a:noFill/>
          <a:ln w="88900" cap="flat" cmpd="sng">
            <a:solidFill>
              <a:srgbClr val="E224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</a:pPr>
            <a:r>
              <a:rPr lang="fr-FR" sz="26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Établissements scolaires (1D et 2D), publics et privés de l’île de Tahiti, de Moorea, </a:t>
            </a:r>
            <a:r>
              <a:rPr lang="fr-FR" sz="2600" b="1" i="1" u="none" strike="noStrike" cap="none" noProof="0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de l’archipel des Marquises (à voir) et de </a:t>
            </a:r>
            <a:r>
              <a:rPr lang="fr-FR" sz="2600" b="1" i="1" u="none" strike="noStrike" cap="none" noProof="0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Tahaa</a:t>
            </a:r>
            <a:r>
              <a:rPr lang="fr-FR" sz="2600" b="1" i="1" u="none" strike="noStrike" cap="none" noProof="0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(sur fond propre)</a:t>
            </a:r>
            <a:r>
              <a:rPr lang="fr-FR" sz="2600" b="0" i="0" u="none" strike="noStrike" cap="none" noProof="0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:</a:t>
            </a:r>
            <a:endParaRPr lang="fr-FR" sz="2600" noProof="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66700" marR="0" lvl="0" indent="-266700" algn="l" rtl="0"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166"/>
              <a:buFont typeface="Helvetica Neue"/>
              <a:buChar char="-"/>
            </a:pPr>
            <a:r>
              <a:rPr lang="fr-FR" sz="26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Cycle 3 et CJA</a:t>
            </a:r>
            <a:endParaRPr lang="fr-FR" sz="2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66700" marR="0" lvl="0" indent="-266700" algn="l" rtl="0"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166"/>
              <a:buFont typeface="Helvetica Neue"/>
              <a:buChar char="-"/>
            </a:pPr>
            <a:r>
              <a:rPr lang="fr-FR" sz="26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Collège (dont SEGPA)</a:t>
            </a:r>
            <a:endParaRPr lang="fr-FR" sz="2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66700" marR="0" lvl="0" indent="-266700" algn="l" rtl="0"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166"/>
              <a:buFont typeface="Helvetica Neue"/>
              <a:buChar char="-"/>
            </a:pPr>
            <a:r>
              <a:rPr lang="fr-FR" sz="26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Lycées professionnels ; généraux et technologiques</a:t>
            </a:r>
          </a:p>
        </p:txBody>
      </p:sp>
      <p:sp>
        <p:nvSpPr>
          <p:cNvPr id="128" name="Google Shape;128;p4"/>
          <p:cNvSpPr txBox="1"/>
          <p:nvPr/>
        </p:nvSpPr>
        <p:spPr>
          <a:xfrm>
            <a:off x="67558" y="3081771"/>
            <a:ext cx="2538131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Helvetica Neue"/>
                <a:sym typeface="Helvetica Neue"/>
              </a:rPr>
              <a:t>5</a:t>
            </a:r>
            <a:r>
              <a:rPr lang="fr-FR" sz="4000" b="1" i="0" u="none" strike="noStrike" cap="none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4000" b="1" i="0" u="none" strike="noStrike" cap="none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Helvetica Neue"/>
                <a:sym typeface="Helvetica Neue"/>
              </a:rPr>
              <a:t>Public</a:t>
            </a:r>
            <a:endParaRPr sz="350" dirty="0">
              <a:latin typeface="Calibri" panose="020F0502020204030204" pitchFamily="34" charset="0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563844" y="722399"/>
            <a:ext cx="3620081" cy="839420"/>
          </a:xfrm>
          <a:prstGeom prst="roundRect">
            <a:avLst>
              <a:gd name="adj" fmla="val 1154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fr-FR" sz="1600" b="0" i="0" u="none" strike="noStrike" cap="none" noProof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Documents à transmettre au pôle LCPP : </a:t>
            </a:r>
            <a:r>
              <a:rPr lang="fr-FR" sz="1600" b="0" i="0" u="sng" strike="noStrike" cap="none" noProof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lcpp@education.pf</a:t>
            </a:r>
            <a:endParaRPr lang="fr-FR" sz="350" noProof="0" dirty="0"/>
          </a:p>
        </p:txBody>
      </p:sp>
      <p:pic>
        <p:nvPicPr>
          <p:cNvPr id="2" name="Google Shape;169;p8" descr="IMG_4428.png">
            <a:extLst>
              <a:ext uri="{FF2B5EF4-FFF2-40B4-BE49-F238E27FC236}">
                <a16:creationId xmlns:a16="http://schemas.microsoft.com/office/drawing/2014/main" id="{4EDA4084-3A36-FBA3-50BF-929E94B09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10"/>
            <a:ext cx="12352725" cy="688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 descr="IMG_4428.png"/>
          <p:cNvPicPr preferRelativeResize="0"/>
          <p:nvPr/>
        </p:nvPicPr>
        <p:blipFill rotWithShape="1">
          <a:blip r:embed="rId3">
            <a:alphaModFix/>
          </a:blip>
          <a:srcRect l="6714" t="45057" r="70246" b="29887"/>
          <a:stretch/>
        </p:blipFill>
        <p:spPr>
          <a:xfrm>
            <a:off x="11183925" y="3694655"/>
            <a:ext cx="932355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49" name="Google Shape;149;p6" descr="IMG_4809.jpeg"/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216613" y="2422833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50" name="Google Shape;150;p6" descr="IMG_4810.jpeg"/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206491" y="1208211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sp>
        <p:nvSpPr>
          <p:cNvPr id="151" name="Google Shape;151;p6"/>
          <p:cNvSpPr txBox="1"/>
          <p:nvPr/>
        </p:nvSpPr>
        <p:spPr>
          <a:xfrm>
            <a:off x="108445" y="1729070"/>
            <a:ext cx="10860562" cy="1461682"/>
          </a:xfrm>
          <a:prstGeom prst="rect">
            <a:avLst/>
          </a:prstGeom>
          <a:noFill/>
          <a:ln w="88900" cap="flat" cmpd="sng">
            <a:solidFill>
              <a:srgbClr val="669D34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700" b="1" i="0" u="sng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Participants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: 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Un total de 20-25 élèves minimum et 60 élèves maximum, par école ou par établissement.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08564" y="3398378"/>
            <a:ext cx="10860600" cy="1087734"/>
          </a:xfrm>
          <a:prstGeom prst="rect">
            <a:avLst/>
          </a:prstGeom>
          <a:noFill/>
          <a:ln w="88900" cap="flat" cmpd="sng">
            <a:solidFill>
              <a:srgbClr val="669D34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700" b="1" i="0" u="sng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Présentation des chants et prestation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: </a:t>
            </a:r>
            <a:r>
              <a:rPr lang="fr-FR" sz="2700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6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minutes maximum 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1 </a:t>
            </a:r>
            <a:r>
              <a:rPr lang="fr-FR" sz="2700" b="0" i="0" u="none" strike="noStrike" cap="none" noProof="0" dirty="0" err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hīmene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r>
              <a:rPr lang="fr-FR" sz="2700" b="0" i="0" u="none" strike="noStrike" cap="none" noProof="0" dirty="0" err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rū’au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et 1 </a:t>
            </a:r>
            <a:r>
              <a:rPr lang="fr-FR" sz="2700" b="0" i="0" u="none" strike="noStrike" cap="none" noProof="0" dirty="0" err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hīmene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r>
              <a:rPr lang="fr-FR" sz="2700" b="0" i="0" u="none" strike="noStrike" cap="none" noProof="0" dirty="0" err="1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tārava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.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08407" y="4680954"/>
            <a:ext cx="10860600" cy="2124171"/>
          </a:xfrm>
          <a:prstGeom prst="rect">
            <a:avLst/>
          </a:prstGeom>
          <a:noFill/>
          <a:ln w="88900" cap="flat" cmpd="sng">
            <a:solidFill>
              <a:srgbClr val="669D34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700" b="1" i="0" u="sng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Critères de sélection 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: 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fr-FR" sz="270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- </a:t>
            </a:r>
            <a:r>
              <a:rPr lang="fr-FR" sz="270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6"/>
              </a:rPr>
              <a:t>Cahier des charges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00" marR="0" lvl="0" indent="-304800" algn="just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7"/>
              </a:rPr>
              <a:t>annexes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et 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  <a:hlinkClick r:id="rId8"/>
              </a:rPr>
              <a:t>grille de notation du jury 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;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00" marR="0" lvl="0" indent="-304800" algn="just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originalité et choix des matériaux utilisés pour la tenue des élèves.</a:t>
            </a:r>
            <a:endParaRPr lang="fr-FR" sz="27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69;p8" descr="IMG_4428.png">
            <a:extLst>
              <a:ext uri="{FF2B5EF4-FFF2-40B4-BE49-F238E27FC236}">
                <a16:creationId xmlns:a16="http://schemas.microsoft.com/office/drawing/2014/main" id="{F6DE852A-6CDF-0572-C09E-2A8C4CA08D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09"/>
            <a:ext cx="12352725" cy="77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4;p7">
            <a:extLst>
              <a:ext uri="{FF2B5EF4-FFF2-40B4-BE49-F238E27FC236}">
                <a16:creationId xmlns:a16="http://schemas.microsoft.com/office/drawing/2014/main" id="{92ED3659-1D0C-3A08-ED68-57DCAFB1AE44}"/>
              </a:ext>
            </a:extLst>
          </p:cNvPr>
          <p:cNvSpPr txBox="1"/>
          <p:nvPr/>
        </p:nvSpPr>
        <p:spPr>
          <a:xfrm>
            <a:off x="140718" y="921542"/>
            <a:ext cx="6680057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6</a:t>
            </a:r>
            <a:r>
              <a:rPr lang="fr-FR" sz="4000" b="1" i="0" u="none" strike="noStrike" cap="none" noProof="0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. Modalités </a:t>
            </a: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de participation</a:t>
            </a:r>
            <a:endParaRPr lang="fr-FR" sz="4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IMG_4428.png"/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10"/>
            <a:ext cx="12352725" cy="100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 descr="IMG_4428.png"/>
          <p:cNvPicPr preferRelativeResize="0"/>
          <p:nvPr/>
        </p:nvPicPr>
        <p:blipFill rotWithShape="1">
          <a:blip r:embed="rId3">
            <a:alphaModFix/>
          </a:blip>
          <a:srcRect l="6714" t="45057" r="70246" b="29887"/>
          <a:stretch/>
        </p:blipFill>
        <p:spPr>
          <a:xfrm>
            <a:off x="11183925" y="3694655"/>
            <a:ext cx="932355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71" name="Google Shape;171;p8" descr="IMG_4809.jpeg"/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216613" y="2422833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72" name="Google Shape;172;p8" descr="IMG_4810.jpeg"/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206491" y="1208211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sp>
        <p:nvSpPr>
          <p:cNvPr id="173" name="Google Shape;173;p8"/>
          <p:cNvSpPr txBox="1"/>
          <p:nvPr/>
        </p:nvSpPr>
        <p:spPr>
          <a:xfrm>
            <a:off x="186709" y="999067"/>
            <a:ext cx="5909291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7</a:t>
            </a:r>
            <a:r>
              <a:rPr lang="fr-FR" sz="4000" b="1" i="0" u="none" strike="noStrike" cap="none" noProof="0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. Calendrier prévisionnel</a:t>
            </a:r>
            <a:endParaRPr lang="fr-FR" sz="4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B1BC3A3-F29D-984E-A8C9-B6838FE31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621370"/>
              </p:ext>
            </p:extLst>
          </p:nvPr>
        </p:nvGraphicFramePr>
        <p:xfrm>
          <a:off x="186709" y="1609402"/>
          <a:ext cx="10805359" cy="51237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2880">
                  <a:extLst>
                    <a:ext uri="{9D8B030D-6E8A-4147-A177-3AD203B41FA5}">
                      <a16:colId xmlns:a16="http://schemas.microsoft.com/office/drawing/2014/main" val="2366610819"/>
                    </a:ext>
                  </a:extLst>
                </a:gridCol>
                <a:gridCol w="7202479">
                  <a:extLst>
                    <a:ext uri="{9D8B030D-6E8A-4147-A177-3AD203B41FA5}">
                      <a16:colId xmlns:a16="http://schemas.microsoft.com/office/drawing/2014/main" val="3351603159"/>
                    </a:ext>
                  </a:extLst>
                </a:gridCol>
              </a:tblGrid>
              <a:tr h="281654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b="1" dirty="0">
                          <a:effectLst/>
                        </a:rPr>
                        <a:t>Dates</a:t>
                      </a:r>
                      <a:endParaRPr lang="fr-PF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b="1" dirty="0">
                          <a:effectLst/>
                        </a:rPr>
                        <a:t>Opérations</a:t>
                      </a:r>
                      <a:endParaRPr lang="fr-PF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4659209"/>
                  </a:ext>
                </a:extLst>
              </a:tr>
              <a:tr h="563307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</a:rPr>
                        <a:t>du 05 octobre au 11 décembre 2026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Campagne d’inscription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3826994"/>
                  </a:ext>
                </a:extLst>
              </a:tr>
              <a:tr h="281654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11 décembre 2026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Date limite d’inscription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3751709"/>
                  </a:ext>
                </a:extLst>
              </a:tr>
              <a:tr h="570647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</a:rPr>
                        <a:t>22 au 26 février 2027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</a:rPr>
                        <a:t>Constitution des dossiers des jurys et organisation des passages dans les écoles et établissements scolaires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0454377"/>
                  </a:ext>
                </a:extLst>
              </a:tr>
              <a:tr h="570647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  <a:highlight>
                            <a:srgbClr val="FFFF00"/>
                          </a:highlight>
                        </a:rPr>
                        <a:t>01 mars 2027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Communication du calendrier du Fa’a’ati hīmene tumu aux écoles et établissements inscrits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4318380"/>
                  </a:ext>
                </a:extLst>
              </a:tr>
              <a:tr h="570647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  <a:highlight>
                            <a:srgbClr val="00FF00"/>
                          </a:highlight>
                        </a:rPr>
                        <a:t>08 au 19 mars 2027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Fa’a’ati hīmene tumu : évaluation des prestations des élèves et pré-sélection des classes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6765006"/>
                  </a:ext>
                </a:extLst>
              </a:tr>
              <a:tr h="380432">
                <a:tc rowSpan="2"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  <a:highlight>
                            <a:srgbClr val="00FF00"/>
                          </a:highlight>
                        </a:rPr>
                        <a:t>19 mars 2027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Sélection des classes participantes au Heiva hīmene tumu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4330834"/>
                  </a:ext>
                </a:extLst>
              </a:tr>
              <a:tr h="380432">
                <a:tc vMerge="1">
                  <a:txBody>
                    <a:bodyPr/>
                    <a:lstStyle/>
                    <a:p>
                      <a:endParaRPr lang="fr-PF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</a:rPr>
                        <a:t>Communication des sélections des jurys aux écoles et établissements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6082488"/>
                  </a:ext>
                </a:extLst>
              </a:tr>
              <a:tr h="570647">
                <a:tc rowSpan="2"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  <a:highlight>
                            <a:srgbClr val="00FFFF"/>
                          </a:highlight>
                        </a:rPr>
                        <a:t>22 au 25 mars 2027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Réservation des transports par les écoles et les établissements sélectionnés puis transmissions des devis au pôle LCPP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3474088"/>
                  </a:ext>
                </a:extLst>
              </a:tr>
              <a:tr h="570647">
                <a:tc vMerge="1">
                  <a:txBody>
                    <a:bodyPr/>
                    <a:lstStyle/>
                    <a:p>
                      <a:endParaRPr lang="fr-PF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</a:rPr>
                        <a:t>Transmission par les écoles sélectionnées des autorisations parentales requises au pôle LCPP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5555247"/>
                  </a:ext>
                </a:extLst>
              </a:tr>
              <a:tr h="383073"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>
                          <a:effectLst/>
                        </a:rPr>
                        <a:t>20 avril 2027</a:t>
                      </a:r>
                      <a:endParaRPr lang="fr-PF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1270" algn="ctr">
                        <a:buNone/>
                      </a:pPr>
                      <a:r>
                        <a:rPr lang="fr-FR" sz="1800" dirty="0">
                          <a:effectLst/>
                        </a:rPr>
                        <a:t>Rencontre des écoles et établissements : </a:t>
                      </a:r>
                      <a:r>
                        <a:rPr lang="fr-FR" sz="1800" dirty="0" err="1">
                          <a:effectLst/>
                        </a:rPr>
                        <a:t>Heiva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r>
                        <a:rPr lang="fr-FR" sz="1800" dirty="0" err="1">
                          <a:effectLst/>
                        </a:rPr>
                        <a:t>Hīmene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r>
                        <a:rPr lang="fr-FR" sz="1800" dirty="0" err="1">
                          <a:effectLst/>
                        </a:rPr>
                        <a:t>Tumu</a:t>
                      </a:r>
                      <a:endParaRPr lang="fr-PF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18301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7" descr="IMG_4428.png"/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09"/>
            <a:ext cx="12352725" cy="810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 descr="IMG_4428.png"/>
          <p:cNvPicPr preferRelativeResize="0"/>
          <p:nvPr/>
        </p:nvPicPr>
        <p:blipFill rotWithShape="1">
          <a:blip r:embed="rId3">
            <a:alphaModFix/>
          </a:blip>
          <a:srcRect l="6714" t="45057" r="70246" b="29887"/>
          <a:stretch/>
        </p:blipFill>
        <p:spPr>
          <a:xfrm>
            <a:off x="11183925" y="3694655"/>
            <a:ext cx="932355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1" name="Google Shape;161;p7" descr="IMG_4809.jpeg"/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216613" y="2422833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62" name="Google Shape;162;p7" descr="IMG_4810.jpeg"/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206491" y="1208211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sp>
        <p:nvSpPr>
          <p:cNvPr id="163" name="Google Shape;163;p7"/>
          <p:cNvSpPr txBox="1"/>
          <p:nvPr/>
        </p:nvSpPr>
        <p:spPr>
          <a:xfrm>
            <a:off x="218710" y="2116633"/>
            <a:ext cx="10659000" cy="3848746"/>
          </a:xfrm>
          <a:prstGeom prst="rect">
            <a:avLst/>
          </a:prstGeom>
          <a:noFill/>
          <a:ln w="88900" cap="flat" cmpd="sng">
            <a:solidFill>
              <a:srgbClr val="D19D0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00" marR="0" lvl="0" indent="-30480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lang="fr-FR" sz="270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Location de la salle « Grand Théâtre »</a:t>
            </a:r>
            <a:r>
              <a:rPr lang="fr-FR" sz="2700" b="0" i="0" u="none" strike="noStrike" cap="none" noProof="0" dirty="0">
                <a:solidFill>
                  <a:srgbClr val="0000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r>
              <a:rPr lang="fr-FR" sz="270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auprès de TFTN, </a:t>
            </a:r>
            <a:endParaRPr lang="fr-FR" sz="2700" noProof="0" dirty="0"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  <a:p>
            <a:pPr marL="304800" marR="0" lvl="0" indent="-30480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lang="fr-FR" sz="2700" noProof="0" dirty="0">
                <a:latin typeface="Calibri" panose="020F0502020204030204" pitchFamily="34" charset="0"/>
                <a:cs typeface="Calibri" panose="020F0502020204030204" pitchFamily="34" charset="0"/>
              </a:rPr>
              <a:t>Réservation et location du transport aérien et terrestre en collaboration avec la FOL,</a:t>
            </a:r>
          </a:p>
          <a:p>
            <a:pPr marL="304800" marR="0" lvl="0" indent="-30480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lang="fr-FR" sz="2700" dirty="0">
                <a:latin typeface="Calibri" panose="020F0502020204030204" pitchFamily="34" charset="0"/>
                <a:cs typeface="Calibri" panose="020F0502020204030204" pitchFamily="34" charset="0"/>
              </a:rPr>
              <a:t>Assurance, repas, agent SSIAP niveau 1, poste de secours, droits d’auteurs avec la SACEM </a:t>
            </a:r>
            <a:r>
              <a:rPr lang="fr-FR" sz="2700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(droits </a:t>
            </a:r>
            <a:r>
              <a:rPr lang="fr-FR" sz="270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de </a:t>
            </a:r>
            <a:r>
              <a:rPr lang="fr-FR" sz="2700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rémunération même avec l’accord des artistes) </a:t>
            </a:r>
            <a:r>
              <a:rPr lang="fr-FR" sz="2700" dirty="0">
                <a:latin typeface="Calibri" panose="020F0502020204030204" pitchFamily="34" charset="0"/>
                <a:cs typeface="Calibri" panose="020F0502020204030204" pitchFamily="34" charset="0"/>
              </a:rPr>
              <a:t>et trophée récompense établit avec la FOL,</a:t>
            </a:r>
          </a:p>
          <a:p>
            <a:pPr marL="304800" marR="0" lvl="0" indent="-30480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lang="fr-FR" sz="2700" noProof="0" dirty="0"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Une très bonne collaboration avec la FOL,</a:t>
            </a:r>
          </a:p>
        </p:txBody>
      </p:sp>
      <p:sp>
        <p:nvSpPr>
          <p:cNvPr id="164" name="Google Shape;164;p7"/>
          <p:cNvSpPr txBox="1"/>
          <p:nvPr/>
        </p:nvSpPr>
        <p:spPr>
          <a:xfrm>
            <a:off x="203029" y="935407"/>
            <a:ext cx="9021629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8. Partenariat</a:t>
            </a:r>
            <a:r>
              <a:rPr lang="fr-FR" sz="4000" b="1" i="0" u="none" strike="noStrike" cap="none" noProof="0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et</a:t>
            </a:r>
            <a:r>
              <a:rPr lang="fr-FR" sz="4000" b="1" i="0" u="none" strike="noStrike" cap="none" noProof="0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organismes</a:t>
            </a:r>
            <a:endParaRPr lang="fr-FR" sz="4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7" descr="IMG_4428.png"/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09"/>
            <a:ext cx="12352725" cy="810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 descr="IMG_4428.png"/>
          <p:cNvPicPr preferRelativeResize="0"/>
          <p:nvPr/>
        </p:nvPicPr>
        <p:blipFill rotWithShape="1">
          <a:blip r:embed="rId3">
            <a:alphaModFix/>
          </a:blip>
          <a:srcRect l="6714" t="45057" r="70246" b="29887"/>
          <a:stretch/>
        </p:blipFill>
        <p:spPr>
          <a:xfrm>
            <a:off x="11183925" y="3694655"/>
            <a:ext cx="932355" cy="760056"/>
          </a:xfrm>
          <a:custGeom>
            <a:avLst/>
            <a:gdLst/>
            <a:ahLst/>
            <a:cxnLst/>
            <a:rect l="l" t="t" r="r" b="b"/>
            <a:pathLst>
              <a:path w="20627" h="21420" extrusionOk="0">
                <a:moveTo>
                  <a:pt x="9904" y="11"/>
                </a:moveTo>
                <a:cubicBezTo>
                  <a:pt x="7511" y="123"/>
                  <a:pt x="5098" y="1107"/>
                  <a:pt x="3090" y="2986"/>
                </a:cubicBezTo>
                <a:cubicBezTo>
                  <a:pt x="2602" y="3444"/>
                  <a:pt x="2340" y="3514"/>
                  <a:pt x="2340" y="3188"/>
                </a:cubicBezTo>
                <a:cubicBezTo>
                  <a:pt x="2340" y="2911"/>
                  <a:pt x="2190" y="2808"/>
                  <a:pt x="2006" y="2953"/>
                </a:cubicBezTo>
                <a:cubicBezTo>
                  <a:pt x="1822" y="3097"/>
                  <a:pt x="1665" y="3631"/>
                  <a:pt x="1659" y="4144"/>
                </a:cubicBezTo>
                <a:cubicBezTo>
                  <a:pt x="1646" y="5331"/>
                  <a:pt x="826" y="6737"/>
                  <a:pt x="360" y="6370"/>
                </a:cubicBezTo>
                <a:cubicBezTo>
                  <a:pt x="164" y="6216"/>
                  <a:pt x="0" y="6281"/>
                  <a:pt x="0" y="6515"/>
                </a:cubicBezTo>
                <a:cubicBezTo>
                  <a:pt x="0" y="6749"/>
                  <a:pt x="130" y="7044"/>
                  <a:pt x="290" y="7170"/>
                </a:cubicBezTo>
                <a:cubicBezTo>
                  <a:pt x="451" y="7297"/>
                  <a:pt x="436" y="8203"/>
                  <a:pt x="254" y="9216"/>
                </a:cubicBezTo>
                <a:cubicBezTo>
                  <a:pt x="-141" y="11423"/>
                  <a:pt x="464" y="15078"/>
                  <a:pt x="1093" y="14278"/>
                </a:cubicBezTo>
                <a:cubicBezTo>
                  <a:pt x="1300" y="14014"/>
                  <a:pt x="1816" y="13797"/>
                  <a:pt x="2239" y="13797"/>
                </a:cubicBezTo>
                <a:cubicBezTo>
                  <a:pt x="3024" y="13797"/>
                  <a:pt x="3237" y="14662"/>
                  <a:pt x="2805" y="16095"/>
                </a:cubicBezTo>
                <a:cubicBezTo>
                  <a:pt x="2626" y="16689"/>
                  <a:pt x="2527" y="16691"/>
                  <a:pt x="1896" y="16129"/>
                </a:cubicBezTo>
                <a:cubicBezTo>
                  <a:pt x="358" y="14757"/>
                  <a:pt x="226" y="15804"/>
                  <a:pt x="1672" y="17901"/>
                </a:cubicBezTo>
                <a:cubicBezTo>
                  <a:pt x="2224" y="18701"/>
                  <a:pt x="2682" y="19591"/>
                  <a:pt x="2695" y="19876"/>
                </a:cubicBezTo>
                <a:cubicBezTo>
                  <a:pt x="2708" y="20160"/>
                  <a:pt x="2849" y="20008"/>
                  <a:pt x="3007" y="19540"/>
                </a:cubicBezTo>
                <a:lnTo>
                  <a:pt x="3297" y="18690"/>
                </a:lnTo>
                <a:lnTo>
                  <a:pt x="3323" y="19540"/>
                </a:lnTo>
                <a:cubicBezTo>
                  <a:pt x="3345" y="20178"/>
                  <a:pt x="3422" y="20248"/>
                  <a:pt x="3635" y="19820"/>
                </a:cubicBezTo>
                <a:cubicBezTo>
                  <a:pt x="3869" y="19350"/>
                  <a:pt x="4122" y="19378"/>
                  <a:pt x="5048" y="19987"/>
                </a:cubicBezTo>
                <a:cubicBezTo>
                  <a:pt x="5669" y="20396"/>
                  <a:pt x="6555" y="20877"/>
                  <a:pt x="7015" y="21056"/>
                </a:cubicBezTo>
                <a:cubicBezTo>
                  <a:pt x="7476" y="21234"/>
                  <a:pt x="9014" y="21399"/>
                  <a:pt x="10431" y="21419"/>
                </a:cubicBezTo>
                <a:cubicBezTo>
                  <a:pt x="13802" y="21467"/>
                  <a:pt x="16177" y="20361"/>
                  <a:pt x="18179" y="17812"/>
                </a:cubicBezTo>
                <a:cubicBezTo>
                  <a:pt x="21459" y="13636"/>
                  <a:pt x="21440" y="8061"/>
                  <a:pt x="18135" y="3853"/>
                </a:cubicBezTo>
                <a:cubicBezTo>
                  <a:pt x="16026" y="1167"/>
                  <a:pt x="12981" y="-133"/>
                  <a:pt x="9904" y="11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1" name="Google Shape;161;p7" descr="IMG_4809.jpeg"/>
          <p:cNvPicPr preferRelativeResize="0"/>
          <p:nvPr/>
        </p:nvPicPr>
        <p:blipFill rotWithShape="1">
          <a:blip r:embed="rId4">
            <a:alphaModFix/>
          </a:blip>
          <a:srcRect l="3207" t="6200" r="5476" b="3045"/>
          <a:stretch/>
        </p:blipFill>
        <p:spPr>
          <a:xfrm>
            <a:off x="11216613" y="2422833"/>
            <a:ext cx="866981" cy="869191"/>
          </a:xfrm>
          <a:custGeom>
            <a:avLst/>
            <a:gdLst/>
            <a:ahLst/>
            <a:cxnLst/>
            <a:rect l="l" t="t" r="r" b="b"/>
            <a:pathLst>
              <a:path w="21593" h="20353" extrusionOk="0">
                <a:moveTo>
                  <a:pt x="10226" y="10"/>
                </a:moveTo>
                <a:cubicBezTo>
                  <a:pt x="8504" y="75"/>
                  <a:pt x="6810" y="464"/>
                  <a:pt x="5535" y="1162"/>
                </a:cubicBezTo>
                <a:cubicBezTo>
                  <a:pt x="1827" y="3191"/>
                  <a:pt x="12" y="6151"/>
                  <a:pt x="0" y="10191"/>
                </a:cubicBezTo>
                <a:cubicBezTo>
                  <a:pt x="-7" y="12345"/>
                  <a:pt x="174" y="13178"/>
                  <a:pt x="963" y="14656"/>
                </a:cubicBezTo>
                <a:cubicBezTo>
                  <a:pt x="2115" y="16813"/>
                  <a:pt x="4691" y="19042"/>
                  <a:pt x="6870" y="19763"/>
                </a:cubicBezTo>
                <a:cubicBezTo>
                  <a:pt x="12253" y="21544"/>
                  <a:pt x="18437" y="19161"/>
                  <a:pt x="20768" y="14410"/>
                </a:cubicBezTo>
                <a:cubicBezTo>
                  <a:pt x="21315" y="13294"/>
                  <a:pt x="21593" y="11733"/>
                  <a:pt x="21593" y="10172"/>
                </a:cubicBezTo>
                <a:cubicBezTo>
                  <a:pt x="21593" y="8612"/>
                  <a:pt x="21315" y="7055"/>
                  <a:pt x="20768" y="5939"/>
                </a:cubicBezTo>
                <a:cubicBezTo>
                  <a:pt x="19716" y="3795"/>
                  <a:pt x="17590" y="1866"/>
                  <a:pt x="15094" y="800"/>
                </a:cubicBezTo>
                <a:cubicBezTo>
                  <a:pt x="13700" y="204"/>
                  <a:pt x="11947" y="-56"/>
                  <a:pt x="10226" y="1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pic>
        <p:nvPicPr>
          <p:cNvPr id="162" name="Google Shape;162;p7" descr="IMG_4810.jpeg"/>
          <p:cNvPicPr preferRelativeResize="0"/>
          <p:nvPr/>
        </p:nvPicPr>
        <p:blipFill rotWithShape="1">
          <a:blip r:embed="rId5">
            <a:alphaModFix/>
          </a:blip>
          <a:srcRect l="28735" t="2721" r="25640" b="38279"/>
          <a:stretch/>
        </p:blipFill>
        <p:spPr>
          <a:xfrm>
            <a:off x="11206491" y="1208211"/>
            <a:ext cx="887224" cy="886236"/>
          </a:xfrm>
          <a:custGeom>
            <a:avLst/>
            <a:gdLst/>
            <a:ahLst/>
            <a:cxnLst/>
            <a:rect l="l" t="t" r="r" b="b"/>
            <a:pathLst>
              <a:path w="21559" h="21591" extrusionOk="0">
                <a:moveTo>
                  <a:pt x="10719" y="0"/>
                </a:moveTo>
                <a:cubicBezTo>
                  <a:pt x="10317" y="1"/>
                  <a:pt x="9922" y="35"/>
                  <a:pt x="9417" y="107"/>
                </a:cubicBezTo>
                <a:cubicBezTo>
                  <a:pt x="7877" y="324"/>
                  <a:pt x="7293" y="503"/>
                  <a:pt x="5921" y="1180"/>
                </a:cubicBezTo>
                <a:cubicBezTo>
                  <a:pt x="4225" y="2016"/>
                  <a:pt x="2837" y="3257"/>
                  <a:pt x="1760" y="4898"/>
                </a:cubicBezTo>
                <a:cubicBezTo>
                  <a:pt x="1103" y="5898"/>
                  <a:pt x="729" y="6668"/>
                  <a:pt x="506" y="7489"/>
                </a:cubicBezTo>
                <a:cubicBezTo>
                  <a:pt x="415" y="7822"/>
                  <a:pt x="306" y="8160"/>
                  <a:pt x="265" y="8238"/>
                </a:cubicBezTo>
                <a:cubicBezTo>
                  <a:pt x="105" y="8540"/>
                  <a:pt x="-40" y="10281"/>
                  <a:pt x="9" y="11294"/>
                </a:cubicBezTo>
                <a:cubicBezTo>
                  <a:pt x="60" y="12341"/>
                  <a:pt x="178" y="13294"/>
                  <a:pt x="274" y="13421"/>
                </a:cubicBezTo>
                <a:cubicBezTo>
                  <a:pt x="306" y="13463"/>
                  <a:pt x="380" y="13689"/>
                  <a:pt x="434" y="13919"/>
                </a:cubicBezTo>
                <a:cubicBezTo>
                  <a:pt x="618" y="14709"/>
                  <a:pt x="1423" y="16361"/>
                  <a:pt x="1972" y="17071"/>
                </a:cubicBezTo>
                <a:cubicBezTo>
                  <a:pt x="2487" y="17737"/>
                  <a:pt x="2988" y="18316"/>
                  <a:pt x="3274" y="18574"/>
                </a:cubicBezTo>
                <a:cubicBezTo>
                  <a:pt x="4940" y="20083"/>
                  <a:pt x="6846" y="21073"/>
                  <a:pt x="8645" y="21364"/>
                </a:cubicBezTo>
                <a:cubicBezTo>
                  <a:pt x="8937" y="21411"/>
                  <a:pt x="9366" y="21477"/>
                  <a:pt x="9595" y="21514"/>
                </a:cubicBezTo>
                <a:cubicBezTo>
                  <a:pt x="9892" y="21562"/>
                  <a:pt x="10235" y="21588"/>
                  <a:pt x="10608" y="21591"/>
                </a:cubicBezTo>
                <a:cubicBezTo>
                  <a:pt x="11726" y="21600"/>
                  <a:pt x="13088" y="21419"/>
                  <a:pt x="14099" y="21098"/>
                </a:cubicBezTo>
                <a:cubicBezTo>
                  <a:pt x="14722" y="20900"/>
                  <a:pt x="15645" y="20460"/>
                  <a:pt x="16360" y="20025"/>
                </a:cubicBezTo>
                <a:cubicBezTo>
                  <a:pt x="18935" y="18456"/>
                  <a:pt x="20752" y="15885"/>
                  <a:pt x="21269" y="13078"/>
                </a:cubicBezTo>
                <a:cubicBezTo>
                  <a:pt x="21350" y="12638"/>
                  <a:pt x="21446" y="12176"/>
                  <a:pt x="21486" y="12048"/>
                </a:cubicBezTo>
                <a:cubicBezTo>
                  <a:pt x="21530" y="11904"/>
                  <a:pt x="21556" y="11282"/>
                  <a:pt x="21558" y="10685"/>
                </a:cubicBezTo>
                <a:cubicBezTo>
                  <a:pt x="21560" y="10087"/>
                  <a:pt x="21539" y="9511"/>
                  <a:pt x="21495" y="9461"/>
                </a:cubicBezTo>
                <a:cubicBezTo>
                  <a:pt x="21460" y="9422"/>
                  <a:pt x="21388" y="9101"/>
                  <a:pt x="21336" y="8746"/>
                </a:cubicBezTo>
                <a:cubicBezTo>
                  <a:pt x="21236" y="8060"/>
                  <a:pt x="20882" y="6947"/>
                  <a:pt x="20526" y="6193"/>
                </a:cubicBezTo>
                <a:cubicBezTo>
                  <a:pt x="19538" y="4103"/>
                  <a:pt x="17742" y="2233"/>
                  <a:pt x="15753" y="1223"/>
                </a:cubicBezTo>
                <a:cubicBezTo>
                  <a:pt x="14469" y="572"/>
                  <a:pt x="13602" y="312"/>
                  <a:pt x="12054" y="107"/>
                </a:cubicBezTo>
                <a:cubicBezTo>
                  <a:pt x="11524" y="36"/>
                  <a:pt x="11120" y="0"/>
                  <a:pt x="1071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254000" dist="127000" dir="5400000" rotWithShape="0">
              <a:srgbClr val="000000">
                <a:alpha val="69803"/>
              </a:srgbClr>
            </a:outerShdw>
          </a:effectLst>
        </p:spPr>
      </p:pic>
      <p:sp>
        <p:nvSpPr>
          <p:cNvPr id="164" name="Google Shape;164;p7"/>
          <p:cNvSpPr txBox="1"/>
          <p:nvPr/>
        </p:nvSpPr>
        <p:spPr>
          <a:xfrm>
            <a:off x="3384577" y="805581"/>
            <a:ext cx="4759136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2400"/>
              </a:buClr>
              <a:buSzPts val="8000"/>
              <a:buFont typeface="Helvetica Neue"/>
              <a:buNone/>
            </a:pPr>
            <a:r>
              <a:rPr lang="fr-FR" sz="4000" b="1" dirty="0">
                <a:solidFill>
                  <a:srgbClr val="E22400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9. Questions diverses</a:t>
            </a:r>
            <a:endParaRPr lang="fr-FR" sz="4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69;p8" descr="IMG_4428.png">
            <a:extLst>
              <a:ext uri="{FF2B5EF4-FFF2-40B4-BE49-F238E27FC236}">
                <a16:creationId xmlns:a16="http://schemas.microsoft.com/office/drawing/2014/main" id="{35AE2E62-B4E2-4F7F-39A4-2A108A90C2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838" b="61734"/>
          <a:stretch/>
        </p:blipFill>
        <p:spPr>
          <a:xfrm>
            <a:off x="-17363" y="-4810"/>
            <a:ext cx="12352725" cy="6816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9;p2">
            <a:extLst>
              <a:ext uri="{FF2B5EF4-FFF2-40B4-BE49-F238E27FC236}">
                <a16:creationId xmlns:a16="http://schemas.microsoft.com/office/drawing/2014/main" id="{3FEE4987-F729-EA14-53FD-AC7EF7FEBC80}"/>
              </a:ext>
            </a:extLst>
          </p:cNvPr>
          <p:cNvSpPr txBox="1"/>
          <p:nvPr/>
        </p:nvSpPr>
        <p:spPr>
          <a:xfrm>
            <a:off x="141185" y="1630991"/>
            <a:ext cx="10187953" cy="2823720"/>
          </a:xfrm>
          <a:prstGeom prst="rect">
            <a:avLst/>
          </a:prstGeom>
          <a:noFill/>
          <a:ln w="139700" cap="flat" cmpd="sng">
            <a:solidFill>
              <a:srgbClr val="F8BA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Helvetica Neue"/>
              <a:buNone/>
            </a:pPr>
            <a:r>
              <a:rPr lang="fr-FR" sz="3200" b="1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Les différents points : </a:t>
            </a: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Arial" panose="020B0604020202020204" pitchFamily="34" charset="0"/>
              <a:buChar char="•"/>
            </a:pPr>
            <a:r>
              <a:rPr lang="fr-FR" sz="32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prie en charge de l’assurance,</a:t>
            </a: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L’accueil des bus dans le parking TFTN : une demande aux agents de TFTN,</a:t>
            </a: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…</a:t>
            </a:r>
            <a:endParaRPr lang="fr-FR" sz="3200" b="1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Helvetica Neue"/>
              <a:buNone/>
            </a:pPr>
            <a:endParaRPr lang="fr-FR" sz="32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8"/>
              <a:buFont typeface="Helvetica Neue"/>
              <a:buNone/>
            </a:pPr>
            <a:endParaRPr lang="fr-FR" sz="3200" b="1" i="1" dirty="0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01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37" descr="Google Shape;832;g7b4b43507f300ea6_3"/>
          <p:cNvPicPr preferRelativeResize="0"/>
          <p:nvPr/>
        </p:nvPicPr>
        <p:blipFill rotWithShape="1">
          <a:blip r:embed="rId3">
            <a:alphaModFix amt="20237"/>
          </a:blip>
          <a:srcRect l="16876" t="24697" r="50386" b="28692"/>
          <a:stretch/>
        </p:blipFill>
        <p:spPr>
          <a:xfrm>
            <a:off x="1480407" y="318771"/>
            <a:ext cx="8547277" cy="556936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rotWithShape="0">
              <a:srgbClr val="333333">
                <a:alpha val="63529"/>
              </a:srgbClr>
            </a:outerShdw>
          </a:effectLst>
        </p:spPr>
      </p:pic>
      <p:sp>
        <p:nvSpPr>
          <p:cNvPr id="1027" name="Google Shape;1027;p37"/>
          <p:cNvSpPr txBox="1"/>
          <p:nvPr/>
        </p:nvSpPr>
        <p:spPr>
          <a:xfrm>
            <a:off x="892738" y="2134235"/>
            <a:ext cx="3539107" cy="9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D65"/>
              </a:buClr>
              <a:buSzPts val="4400"/>
              <a:buFont typeface="Avenir"/>
              <a:buNone/>
            </a:pPr>
            <a:r>
              <a:rPr lang="fr-FR" sz="4400" b="0" i="1" u="none" strike="noStrike" cap="none">
                <a:solidFill>
                  <a:srgbClr val="004D65"/>
                </a:solidFill>
                <a:latin typeface="Avenir"/>
                <a:ea typeface="Avenir"/>
                <a:cs typeface="Avenir"/>
                <a:sym typeface="Avenir"/>
              </a:rPr>
              <a:t>MĀURUURU</a:t>
            </a:r>
            <a:endParaRPr/>
          </a:p>
        </p:txBody>
      </p:sp>
      <p:sp>
        <p:nvSpPr>
          <p:cNvPr id="1028" name="Google Shape;1028;p37"/>
          <p:cNvSpPr txBox="1"/>
          <p:nvPr/>
        </p:nvSpPr>
        <p:spPr>
          <a:xfrm>
            <a:off x="4564129" y="595108"/>
            <a:ext cx="3717000" cy="9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D65"/>
              </a:buClr>
              <a:buSzPts val="4400"/>
              <a:buFont typeface="Avenir"/>
              <a:buNone/>
            </a:pPr>
            <a:r>
              <a:rPr lang="fr-FR" sz="4400" b="0" i="1" u="none" strike="noStrike" cap="none">
                <a:solidFill>
                  <a:srgbClr val="004D65"/>
                </a:solidFill>
                <a:latin typeface="Avenir"/>
                <a:ea typeface="Avenir"/>
                <a:cs typeface="Avenir"/>
                <a:sym typeface="Avenir"/>
              </a:rPr>
              <a:t>KOÙTAÙ NUI</a:t>
            </a:r>
            <a:endParaRPr/>
          </a:p>
        </p:txBody>
      </p:sp>
      <p:sp>
        <p:nvSpPr>
          <p:cNvPr id="1029" name="Google Shape;1029;p37"/>
          <p:cNvSpPr txBox="1"/>
          <p:nvPr/>
        </p:nvSpPr>
        <p:spPr>
          <a:xfrm>
            <a:off x="3019337" y="3725283"/>
            <a:ext cx="2803650" cy="9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D65"/>
              </a:buClr>
              <a:buSzPts val="4400"/>
              <a:buFont typeface="Avenir"/>
              <a:buNone/>
            </a:pPr>
            <a:r>
              <a:rPr lang="fr-FR" sz="4400" b="0" i="1" u="none" strike="noStrike" cap="none">
                <a:solidFill>
                  <a:srgbClr val="004D65"/>
                </a:solidFill>
                <a:latin typeface="Avenir"/>
                <a:ea typeface="Avenir"/>
                <a:cs typeface="Avenir"/>
                <a:sym typeface="Avenir"/>
              </a:rPr>
              <a:t>VAIÈI NUI</a:t>
            </a:r>
            <a:endParaRPr/>
          </a:p>
        </p:txBody>
      </p:sp>
      <p:sp>
        <p:nvSpPr>
          <p:cNvPr id="1030" name="Google Shape;1030;p37"/>
          <p:cNvSpPr txBox="1"/>
          <p:nvPr/>
        </p:nvSpPr>
        <p:spPr>
          <a:xfrm>
            <a:off x="7236308" y="2631020"/>
            <a:ext cx="4005601" cy="9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D65"/>
              </a:buClr>
              <a:buSzPts val="4400"/>
              <a:buFont typeface="Avenir"/>
              <a:buNone/>
            </a:pPr>
            <a:r>
              <a:rPr lang="fr-FR" sz="4400" b="0" i="1" u="none" strike="noStrike" cap="none">
                <a:solidFill>
                  <a:srgbClr val="004D65"/>
                </a:solidFill>
                <a:latin typeface="Avenir"/>
                <a:ea typeface="Avenir"/>
                <a:cs typeface="Avenir"/>
                <a:sym typeface="Avenir"/>
              </a:rPr>
              <a:t>TEI KOA HOKI</a:t>
            </a:r>
            <a:endParaRPr/>
          </a:p>
        </p:txBody>
      </p:sp>
      <p:sp>
        <p:nvSpPr>
          <p:cNvPr id="1031" name="Google Shape;1031;p37"/>
          <p:cNvSpPr txBox="1"/>
          <p:nvPr/>
        </p:nvSpPr>
        <p:spPr>
          <a:xfrm>
            <a:off x="4918019" y="5604192"/>
            <a:ext cx="2308502" cy="9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D65"/>
              </a:buClr>
              <a:buSzPts val="4400"/>
              <a:buFont typeface="Avenir"/>
              <a:buNone/>
            </a:pPr>
            <a:r>
              <a:rPr lang="fr-FR" sz="4400" b="0" i="1" u="none" strike="noStrike" cap="none">
                <a:solidFill>
                  <a:srgbClr val="004D65"/>
                </a:solidFill>
                <a:latin typeface="Avenir"/>
                <a:ea typeface="Avenir"/>
                <a:cs typeface="Avenir"/>
                <a:sym typeface="Avenir"/>
              </a:rPr>
              <a:t>MĀRO’I</a:t>
            </a:r>
            <a:endParaRPr/>
          </a:p>
        </p:txBody>
      </p:sp>
      <p:sp>
        <p:nvSpPr>
          <p:cNvPr id="1032" name="Google Shape;1032;p37"/>
          <p:cNvSpPr txBox="1"/>
          <p:nvPr/>
        </p:nvSpPr>
        <p:spPr>
          <a:xfrm>
            <a:off x="8408123" y="4876324"/>
            <a:ext cx="3511149" cy="94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D65"/>
              </a:buClr>
              <a:buSzPts val="4400"/>
              <a:buFont typeface="Avenir"/>
              <a:buNone/>
            </a:pPr>
            <a:r>
              <a:rPr lang="fr-FR" sz="4400" b="0" i="1" u="none" strike="noStrike" cap="none">
                <a:solidFill>
                  <a:srgbClr val="004D65"/>
                </a:solidFill>
                <a:latin typeface="Avenir"/>
                <a:ea typeface="Avenir"/>
                <a:cs typeface="Avenir"/>
                <a:sym typeface="Avenir"/>
              </a:rPr>
              <a:t>MĀURUURU</a:t>
            </a:r>
            <a:endParaRPr/>
          </a:p>
        </p:txBody>
      </p:sp>
      <p:pic>
        <p:nvPicPr>
          <p:cNvPr id="1033" name="Google Shape;1033;p37" descr="Google Shape;881;g3428143f7d90f40c_134"/>
          <p:cNvPicPr preferRelativeResize="0"/>
          <p:nvPr/>
        </p:nvPicPr>
        <p:blipFill rotWithShape="1">
          <a:blip r:embed="rId4">
            <a:alphaModFix/>
          </a:blip>
          <a:srcRect t="37208" b="31823"/>
          <a:stretch/>
        </p:blipFill>
        <p:spPr>
          <a:xfrm>
            <a:off x="3934047" y="407926"/>
            <a:ext cx="676568" cy="13192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233" y="0"/>
                </a:moveTo>
                <a:cubicBezTo>
                  <a:pt x="9508" y="0"/>
                  <a:pt x="0" y="4836"/>
                  <a:pt x="0" y="10800"/>
                </a:cubicBezTo>
                <a:cubicBezTo>
                  <a:pt x="0" y="16764"/>
                  <a:pt x="9508" y="21600"/>
                  <a:pt x="21233" y="21600"/>
                </a:cubicBezTo>
                <a:lnTo>
                  <a:pt x="21600" y="21587"/>
                </a:lnTo>
                <a:lnTo>
                  <a:pt x="21600" y="13"/>
                </a:lnTo>
                <a:lnTo>
                  <a:pt x="21233" y="0"/>
                </a:lnTo>
                <a:close/>
              </a:path>
            </a:pathLst>
          </a:custGeom>
          <a:noFill/>
          <a:ln>
            <a:noFill/>
          </a:ln>
          <a:effectLst>
            <a:reflection stA="50000" endPos="40000" sy="-100000" algn="bl" rotWithShape="0"/>
          </a:effectLst>
        </p:spPr>
      </p:pic>
      <p:pic>
        <p:nvPicPr>
          <p:cNvPr id="1034" name="Google Shape;1034;p37" descr="Google Shape;882;g3428143f7d90f40c_134"/>
          <p:cNvPicPr preferRelativeResize="0"/>
          <p:nvPr/>
        </p:nvPicPr>
        <p:blipFill rotWithShape="1">
          <a:blip r:embed="rId4">
            <a:alphaModFix/>
          </a:blip>
          <a:srcRect t="37208" b="31823"/>
          <a:stretch/>
        </p:blipFill>
        <p:spPr>
          <a:xfrm>
            <a:off x="301448" y="1887966"/>
            <a:ext cx="676568" cy="13192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233" y="0"/>
                </a:moveTo>
                <a:cubicBezTo>
                  <a:pt x="9508" y="0"/>
                  <a:pt x="0" y="4836"/>
                  <a:pt x="0" y="10800"/>
                </a:cubicBezTo>
                <a:cubicBezTo>
                  <a:pt x="0" y="16764"/>
                  <a:pt x="9508" y="21600"/>
                  <a:pt x="21233" y="21600"/>
                </a:cubicBezTo>
                <a:lnTo>
                  <a:pt x="21600" y="21587"/>
                </a:lnTo>
                <a:lnTo>
                  <a:pt x="21600" y="13"/>
                </a:lnTo>
                <a:lnTo>
                  <a:pt x="21233" y="0"/>
                </a:lnTo>
                <a:close/>
              </a:path>
            </a:pathLst>
          </a:custGeom>
          <a:noFill/>
          <a:ln>
            <a:noFill/>
          </a:ln>
          <a:effectLst>
            <a:reflection stA="50000" endPos="40000" sy="-100000" algn="bl" rotWithShape="0"/>
          </a:effectLst>
        </p:spPr>
      </p:pic>
      <p:pic>
        <p:nvPicPr>
          <p:cNvPr id="1035" name="Google Shape;1035;p37" descr="Google Shape;883;g3428143f7d90f40c_134"/>
          <p:cNvPicPr preferRelativeResize="0"/>
          <p:nvPr/>
        </p:nvPicPr>
        <p:blipFill rotWithShape="1">
          <a:blip r:embed="rId4">
            <a:alphaModFix/>
          </a:blip>
          <a:srcRect t="37208" b="31823"/>
          <a:stretch/>
        </p:blipFill>
        <p:spPr>
          <a:xfrm>
            <a:off x="6575784" y="2393038"/>
            <a:ext cx="676568" cy="13192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233" y="0"/>
                </a:moveTo>
                <a:cubicBezTo>
                  <a:pt x="9508" y="0"/>
                  <a:pt x="0" y="4836"/>
                  <a:pt x="0" y="10800"/>
                </a:cubicBezTo>
                <a:cubicBezTo>
                  <a:pt x="0" y="16764"/>
                  <a:pt x="9508" y="21600"/>
                  <a:pt x="21233" y="21600"/>
                </a:cubicBezTo>
                <a:lnTo>
                  <a:pt x="21600" y="21587"/>
                </a:lnTo>
                <a:lnTo>
                  <a:pt x="21600" y="13"/>
                </a:lnTo>
                <a:lnTo>
                  <a:pt x="21233" y="0"/>
                </a:lnTo>
                <a:close/>
              </a:path>
            </a:pathLst>
          </a:custGeom>
          <a:noFill/>
          <a:ln>
            <a:noFill/>
          </a:ln>
          <a:effectLst>
            <a:reflection stA="50000" endPos="40000" sy="-100000" algn="bl" rotWithShape="0"/>
          </a:effectLst>
        </p:spPr>
      </p:pic>
      <p:pic>
        <p:nvPicPr>
          <p:cNvPr id="1036" name="Google Shape;1036;p37" descr="Google Shape;884;g3428143f7d90f40c_134"/>
          <p:cNvPicPr preferRelativeResize="0"/>
          <p:nvPr/>
        </p:nvPicPr>
        <p:blipFill rotWithShape="1">
          <a:blip r:embed="rId4">
            <a:alphaModFix/>
          </a:blip>
          <a:srcRect t="37208" b="31823"/>
          <a:stretch/>
        </p:blipFill>
        <p:spPr>
          <a:xfrm>
            <a:off x="4276549" y="5316331"/>
            <a:ext cx="676568" cy="13192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233" y="0"/>
                </a:moveTo>
                <a:cubicBezTo>
                  <a:pt x="9508" y="0"/>
                  <a:pt x="0" y="4836"/>
                  <a:pt x="0" y="10800"/>
                </a:cubicBezTo>
                <a:cubicBezTo>
                  <a:pt x="0" y="16764"/>
                  <a:pt x="9508" y="21600"/>
                  <a:pt x="21233" y="21600"/>
                </a:cubicBezTo>
                <a:lnTo>
                  <a:pt x="21600" y="21587"/>
                </a:lnTo>
                <a:lnTo>
                  <a:pt x="21600" y="13"/>
                </a:lnTo>
                <a:lnTo>
                  <a:pt x="21233" y="0"/>
                </a:lnTo>
                <a:close/>
              </a:path>
            </a:pathLst>
          </a:custGeom>
          <a:noFill/>
          <a:ln>
            <a:noFill/>
          </a:ln>
          <a:effectLst>
            <a:reflection stA="50000" endPos="40000" sy="-100000" algn="bl" rotWithShape="0"/>
          </a:effectLst>
        </p:spPr>
      </p:pic>
      <p:pic>
        <p:nvPicPr>
          <p:cNvPr id="1037" name="Google Shape;1037;p37" descr="Google Shape;885;g3428143f7d90f40c_134"/>
          <p:cNvPicPr preferRelativeResize="0"/>
          <p:nvPr/>
        </p:nvPicPr>
        <p:blipFill rotWithShape="1">
          <a:blip r:embed="rId4">
            <a:alphaModFix/>
          </a:blip>
          <a:srcRect t="37208" b="31823"/>
          <a:stretch/>
        </p:blipFill>
        <p:spPr>
          <a:xfrm>
            <a:off x="2387455" y="3525401"/>
            <a:ext cx="676568" cy="13192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233" y="0"/>
                </a:moveTo>
                <a:cubicBezTo>
                  <a:pt x="9508" y="0"/>
                  <a:pt x="0" y="4836"/>
                  <a:pt x="0" y="10800"/>
                </a:cubicBezTo>
                <a:cubicBezTo>
                  <a:pt x="0" y="16764"/>
                  <a:pt x="9508" y="21600"/>
                  <a:pt x="21233" y="21600"/>
                </a:cubicBezTo>
                <a:lnTo>
                  <a:pt x="21600" y="21587"/>
                </a:lnTo>
                <a:lnTo>
                  <a:pt x="21600" y="13"/>
                </a:lnTo>
                <a:lnTo>
                  <a:pt x="21233" y="0"/>
                </a:lnTo>
                <a:close/>
              </a:path>
            </a:pathLst>
          </a:custGeom>
          <a:noFill/>
          <a:ln>
            <a:noFill/>
          </a:ln>
          <a:effectLst>
            <a:reflection stA="50000" endPos="40000" sy="-100000" algn="bl" rotWithShape="0"/>
          </a:effectLst>
        </p:spPr>
      </p:pic>
      <p:pic>
        <p:nvPicPr>
          <p:cNvPr id="1040" name="Google Shape;1040;p37" descr="Google Shape;883;g3428143f7d90f40c_134"/>
          <p:cNvPicPr preferRelativeResize="0"/>
          <p:nvPr/>
        </p:nvPicPr>
        <p:blipFill rotWithShape="1">
          <a:blip r:embed="rId4">
            <a:alphaModFix/>
          </a:blip>
          <a:srcRect t="37208" b="31823"/>
          <a:stretch/>
        </p:blipFill>
        <p:spPr>
          <a:xfrm>
            <a:off x="7789006" y="4656725"/>
            <a:ext cx="676568" cy="13192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233" y="0"/>
                </a:moveTo>
                <a:cubicBezTo>
                  <a:pt x="9508" y="0"/>
                  <a:pt x="0" y="4836"/>
                  <a:pt x="0" y="10800"/>
                </a:cubicBezTo>
                <a:cubicBezTo>
                  <a:pt x="0" y="16764"/>
                  <a:pt x="9508" y="21600"/>
                  <a:pt x="21233" y="21600"/>
                </a:cubicBezTo>
                <a:lnTo>
                  <a:pt x="21600" y="21587"/>
                </a:lnTo>
                <a:lnTo>
                  <a:pt x="21600" y="13"/>
                </a:lnTo>
                <a:lnTo>
                  <a:pt x="21233" y="0"/>
                </a:lnTo>
                <a:close/>
              </a:path>
            </a:pathLst>
          </a:custGeom>
          <a:noFill/>
          <a:ln>
            <a:noFill/>
          </a:ln>
          <a:effectLst>
            <a:reflection stA="50000" endPos="4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1014</Words>
  <Application>Microsoft Office PowerPoint</Application>
  <PresentationFormat>Grand écran</PresentationFormat>
  <Paragraphs>173</Paragraphs>
  <Slides>13</Slides>
  <Notes>11</Notes>
  <HiddenSlides>0</HiddenSlides>
  <MMClips>7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Vaiana REY VANAA</dc:creator>
  <cp:lastModifiedBy>Charles Hoiore</cp:lastModifiedBy>
  <cp:revision>11</cp:revision>
  <dcterms:created xsi:type="dcterms:W3CDTF">2025-10-09T03:58:06Z</dcterms:created>
  <dcterms:modified xsi:type="dcterms:W3CDTF">2026-09-28T04:08:00Z</dcterms:modified>
</cp:coreProperties>
</file>